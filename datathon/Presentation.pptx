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1" r:id="rId1"/>
  </p:sldMasterIdLst>
  <p:sldIdLst>
    <p:sldId id="256" r:id="rId2"/>
    <p:sldId id="257" r:id="rId3"/>
    <p:sldId id="258" r:id="rId4"/>
    <p:sldId id="263" r:id="rId5"/>
    <p:sldId id="259" r:id="rId6"/>
    <p:sldId id="260" r:id="rId7"/>
    <p:sldId id="275" r:id="rId8"/>
    <p:sldId id="261" r:id="rId9"/>
    <p:sldId id="262" r:id="rId10"/>
    <p:sldId id="264" r:id="rId11"/>
    <p:sldId id="265" r:id="rId12"/>
    <p:sldId id="267" r:id="rId13"/>
    <p:sldId id="266" r:id="rId14"/>
    <p:sldId id="268" r:id="rId15"/>
    <p:sldId id="269" r:id="rId16"/>
    <p:sldId id="270" r:id="rId17"/>
    <p:sldId id="272" r:id="rId18"/>
    <p:sldId id="271"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46"/>
  </p:normalViewPr>
  <p:slideViewPr>
    <p:cSldViewPr snapToGrid="0" snapToObjects="1">
      <p:cViewPr varScale="1">
        <p:scale>
          <a:sx n="108" d="100"/>
          <a:sy n="108" d="100"/>
        </p:scale>
        <p:origin x="73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397272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1998644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1070671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1FFD1A-D9F4-5247-8BD8-9F25D20481E9}" type="datetimeFigureOut">
              <a:rPr lang="en-TR" smtClean="0"/>
              <a:t>6.06.2021</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212273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1FFD1A-D9F4-5247-8BD8-9F25D20481E9}" type="datetimeFigureOut">
              <a:rPr lang="en-TR" smtClean="0"/>
              <a:t>6.06.2021</a:t>
            </a:fld>
            <a:endParaRPr lang="en-TR"/>
          </a:p>
        </p:txBody>
      </p:sp>
      <p:sp>
        <p:nvSpPr>
          <p:cNvPr id="8" name="Footer Placeholder 7"/>
          <p:cNvSpPr>
            <a:spLocks noGrp="1"/>
          </p:cNvSpPr>
          <p:nvPr>
            <p:ph type="ftr" sz="quarter" idx="11"/>
          </p:nvPr>
        </p:nvSpPr>
        <p:spPr/>
        <p:txBody>
          <a:bodyPr/>
          <a:lstStyle/>
          <a:p>
            <a:endParaRPr lang="en-TR"/>
          </a:p>
        </p:txBody>
      </p:sp>
      <p:sp>
        <p:nvSpPr>
          <p:cNvPr id="9" name="Slide Number Placeholder 8"/>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2885314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1FFD1A-D9F4-5247-8BD8-9F25D20481E9}" type="datetimeFigureOut">
              <a:rPr lang="en-TR" smtClean="0"/>
              <a:t>6.06.2021</a:t>
            </a:fld>
            <a:endParaRPr lang="en-TR"/>
          </a:p>
        </p:txBody>
      </p:sp>
      <p:sp>
        <p:nvSpPr>
          <p:cNvPr id="4" name="Footer Placeholder 3"/>
          <p:cNvSpPr>
            <a:spLocks noGrp="1"/>
          </p:cNvSpPr>
          <p:nvPr>
            <p:ph type="ftr" sz="quarter" idx="11"/>
          </p:nvPr>
        </p:nvSpPr>
        <p:spPr/>
        <p:txBody>
          <a:bodyPr/>
          <a:lstStyle/>
          <a:p>
            <a:endParaRPr lang="en-TR"/>
          </a:p>
        </p:txBody>
      </p:sp>
      <p:sp>
        <p:nvSpPr>
          <p:cNvPr id="5" name="Slide Number Placeholder 4"/>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3998986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1FFD1A-D9F4-5247-8BD8-9F25D20481E9}" type="datetimeFigureOut">
              <a:rPr lang="en-TR" smtClean="0"/>
              <a:t>6.06.2021</a:t>
            </a:fld>
            <a:endParaRPr lang="en-TR"/>
          </a:p>
        </p:txBody>
      </p:sp>
      <p:sp>
        <p:nvSpPr>
          <p:cNvPr id="3" name="Footer Placeholder 2"/>
          <p:cNvSpPr>
            <a:spLocks noGrp="1"/>
          </p:cNvSpPr>
          <p:nvPr>
            <p:ph type="ftr" sz="quarter" idx="11"/>
          </p:nvPr>
        </p:nvSpPr>
        <p:spPr/>
        <p:txBody>
          <a:bodyPr/>
          <a:lstStyle/>
          <a:p>
            <a:endParaRPr lang="en-TR"/>
          </a:p>
        </p:txBody>
      </p:sp>
      <p:sp>
        <p:nvSpPr>
          <p:cNvPr id="4" name="Slide Number Placeholder 3"/>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1976987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1FFD1A-D9F4-5247-8BD8-9F25D20481E9}" type="datetimeFigureOut">
              <a:rPr lang="en-TR" smtClean="0"/>
              <a:t>6.06.2021</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3081620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1FFD1A-D9F4-5247-8BD8-9F25D20481E9}" type="datetimeFigureOut">
              <a:rPr lang="en-TR" smtClean="0"/>
              <a:t>6.06.2021</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3630809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99155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72278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1925700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779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1743454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650564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1FFD1A-D9F4-5247-8BD8-9F25D20481E9}" type="datetimeFigureOut">
              <a:rPr lang="en-TR" smtClean="0"/>
              <a:t>6.06.2021</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7296D665-094D-9F48-83EB-B22AC4E01135}" type="slidenum">
              <a:rPr lang="en-TR" smtClean="0"/>
              <a:t>‹#›</a:t>
            </a:fld>
            <a:endParaRPr lang="en-TR"/>
          </a:p>
        </p:txBody>
      </p:sp>
    </p:spTree>
    <p:extLst>
      <p:ext uri="{BB962C8B-B14F-4D97-AF65-F5344CB8AC3E}">
        <p14:creationId xmlns:p14="http://schemas.microsoft.com/office/powerpoint/2010/main" val="3619162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D1FFD1A-D9F4-5247-8BD8-9F25D20481E9}" type="datetimeFigureOut">
              <a:rPr lang="en-TR" smtClean="0"/>
              <a:t>6.06.2021</a:t>
            </a:fld>
            <a:endParaRPr lang="en-T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T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296D665-094D-9F48-83EB-B22AC4E01135}" type="slidenum">
              <a:rPr lang="en-TR" smtClean="0"/>
              <a:t>‹#›</a:t>
            </a:fld>
            <a:endParaRPr lang="en-TR"/>
          </a:p>
        </p:txBody>
      </p:sp>
    </p:spTree>
    <p:extLst>
      <p:ext uri="{BB962C8B-B14F-4D97-AF65-F5344CB8AC3E}">
        <p14:creationId xmlns:p14="http://schemas.microsoft.com/office/powerpoint/2010/main" val="3623688148"/>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DF20-E194-124C-ADA7-285502776832}"/>
              </a:ext>
            </a:extLst>
          </p:cNvPr>
          <p:cNvSpPr>
            <a:spLocks noGrp="1"/>
          </p:cNvSpPr>
          <p:nvPr>
            <p:ph type="ctrTitle"/>
          </p:nvPr>
        </p:nvSpPr>
        <p:spPr>
          <a:xfrm>
            <a:off x="501445" y="2404534"/>
            <a:ext cx="8772558" cy="1646302"/>
          </a:xfrm>
        </p:spPr>
        <p:txBody>
          <a:bodyPr/>
          <a:lstStyle/>
          <a:p>
            <a:r>
              <a:rPr lang="en-TR" dirty="0"/>
              <a:t>Datathon Use Case 2</a:t>
            </a:r>
            <a:br>
              <a:rPr lang="en-TR" dirty="0"/>
            </a:br>
            <a:r>
              <a:rPr lang="en-TR" sz="3400" dirty="0"/>
              <a:t>Wind Power Plant Production Forecasting</a:t>
            </a:r>
          </a:p>
        </p:txBody>
      </p:sp>
      <p:sp>
        <p:nvSpPr>
          <p:cNvPr id="3" name="Subtitle 2">
            <a:extLst>
              <a:ext uri="{FF2B5EF4-FFF2-40B4-BE49-F238E27FC236}">
                <a16:creationId xmlns:a16="http://schemas.microsoft.com/office/drawing/2014/main" id="{2CC94A74-8FB6-3C46-8F93-D02BAE499B3D}"/>
              </a:ext>
            </a:extLst>
          </p:cNvPr>
          <p:cNvSpPr>
            <a:spLocks noGrp="1"/>
          </p:cNvSpPr>
          <p:nvPr>
            <p:ph type="subTitle" idx="1"/>
          </p:nvPr>
        </p:nvSpPr>
        <p:spPr/>
        <p:txBody>
          <a:bodyPr>
            <a:normAutofit fontScale="92500" lnSpcReduction="10000"/>
          </a:bodyPr>
          <a:lstStyle/>
          <a:p>
            <a:r>
              <a:rPr lang="en-TR" dirty="0"/>
              <a:t>Alp Özen</a:t>
            </a:r>
          </a:p>
          <a:p>
            <a:r>
              <a:rPr lang="en-TR" dirty="0"/>
              <a:t>Alkım Ece Toprak</a:t>
            </a:r>
          </a:p>
          <a:p>
            <a:r>
              <a:rPr lang="en-TR" dirty="0"/>
              <a:t>Ayda Geçim</a:t>
            </a:r>
          </a:p>
        </p:txBody>
      </p:sp>
    </p:spTree>
    <p:extLst>
      <p:ext uri="{BB962C8B-B14F-4D97-AF65-F5344CB8AC3E}">
        <p14:creationId xmlns:p14="http://schemas.microsoft.com/office/powerpoint/2010/main" val="40346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BACF-869B-714C-8363-9B38555122C7}"/>
              </a:ext>
            </a:extLst>
          </p:cNvPr>
          <p:cNvSpPr>
            <a:spLocks noGrp="1"/>
          </p:cNvSpPr>
          <p:nvPr>
            <p:ph type="title"/>
          </p:nvPr>
        </p:nvSpPr>
        <p:spPr/>
        <p:txBody>
          <a:bodyPr>
            <a:normAutofit/>
          </a:bodyPr>
          <a:lstStyle/>
          <a:p>
            <a:r>
              <a:rPr lang="en-US" sz="4000" dirty="0"/>
              <a:t>Business Understanding </a:t>
            </a:r>
            <a:endParaRPr lang="en-TR" sz="4000" dirty="0"/>
          </a:p>
        </p:txBody>
      </p:sp>
      <p:sp>
        <p:nvSpPr>
          <p:cNvPr id="3" name="Content Placeholder 2">
            <a:extLst>
              <a:ext uri="{FF2B5EF4-FFF2-40B4-BE49-F238E27FC236}">
                <a16:creationId xmlns:a16="http://schemas.microsoft.com/office/drawing/2014/main" id="{26F5BE42-3082-734A-85A5-86365D16DCCF}"/>
              </a:ext>
            </a:extLst>
          </p:cNvPr>
          <p:cNvSpPr>
            <a:spLocks noGrp="1"/>
          </p:cNvSpPr>
          <p:nvPr>
            <p:ph idx="1"/>
          </p:nvPr>
        </p:nvSpPr>
        <p:spPr/>
        <p:txBody>
          <a:bodyPr/>
          <a:lstStyle/>
          <a:p>
            <a:r>
              <a:rPr lang="en-US" dirty="0"/>
              <a:t>It is an electricity producer’s responsibility to inform the market every day of the electricity volume we will produce hourly for the next day. This is done to keep the electricity grid balanced and a financial cost is reflected on the producer if the actual produced volume differs from the value that was informed.</a:t>
            </a:r>
          </a:p>
          <a:p>
            <a:r>
              <a:rPr lang="en-US" dirty="0"/>
              <a:t>In this report, we are trying to forecast the power output of a wind power plant for the </a:t>
            </a:r>
            <a:r>
              <a:rPr lang="en-US" i="1" dirty="0"/>
              <a:t>5th of June, 2021</a:t>
            </a:r>
            <a:r>
              <a:rPr lang="en-US" dirty="0"/>
              <a:t>. If we manage to accurately forecast the power production of our power plant for the next day, we can </a:t>
            </a:r>
            <a:r>
              <a:rPr lang="en-US" b="1" dirty="0"/>
              <a:t>minimize </a:t>
            </a:r>
            <a:r>
              <a:rPr lang="en-US" dirty="0"/>
              <a:t>the </a:t>
            </a:r>
            <a:r>
              <a:rPr lang="en-US" dirty="0">
                <a:solidFill>
                  <a:srgbClr val="FF0000"/>
                </a:solidFill>
              </a:rPr>
              <a:t>imbalance cost</a:t>
            </a:r>
            <a:r>
              <a:rPr lang="en-US" dirty="0"/>
              <a:t>. </a:t>
            </a:r>
          </a:p>
          <a:p>
            <a:endParaRPr lang="en-US" dirty="0">
              <a:effectLst/>
            </a:endParaRPr>
          </a:p>
          <a:p>
            <a:endParaRPr lang="en-TR" dirty="0"/>
          </a:p>
        </p:txBody>
      </p:sp>
    </p:spTree>
    <p:extLst>
      <p:ext uri="{BB962C8B-B14F-4D97-AF65-F5344CB8AC3E}">
        <p14:creationId xmlns:p14="http://schemas.microsoft.com/office/powerpoint/2010/main" val="2908130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56D4-178A-5049-8B07-964127BEE6E6}"/>
              </a:ext>
            </a:extLst>
          </p:cNvPr>
          <p:cNvSpPr>
            <a:spLocks noGrp="1"/>
          </p:cNvSpPr>
          <p:nvPr>
            <p:ph type="title"/>
          </p:nvPr>
        </p:nvSpPr>
        <p:spPr/>
        <p:txBody>
          <a:bodyPr>
            <a:normAutofit/>
          </a:bodyPr>
          <a:lstStyle/>
          <a:p>
            <a:r>
              <a:rPr lang="en-TR" sz="4000" dirty="0"/>
              <a:t>Data Understanding</a:t>
            </a:r>
          </a:p>
        </p:txBody>
      </p:sp>
      <p:sp>
        <p:nvSpPr>
          <p:cNvPr id="3" name="Content Placeholder 2">
            <a:extLst>
              <a:ext uri="{FF2B5EF4-FFF2-40B4-BE49-F238E27FC236}">
                <a16:creationId xmlns:a16="http://schemas.microsoft.com/office/drawing/2014/main" id="{F89CF334-5A20-774D-94A6-4A09C94091B8}"/>
              </a:ext>
            </a:extLst>
          </p:cNvPr>
          <p:cNvSpPr>
            <a:spLocks noGrp="1"/>
          </p:cNvSpPr>
          <p:nvPr>
            <p:ph idx="1"/>
          </p:nvPr>
        </p:nvSpPr>
        <p:spPr/>
        <p:txBody>
          <a:bodyPr>
            <a:normAutofit/>
          </a:bodyPr>
          <a:lstStyle/>
          <a:p>
            <a:r>
              <a:rPr lang="en-US" dirty="0"/>
              <a:t>To be able to forecast the power output of the given wind power plant, we have historic forecast data for:</a:t>
            </a:r>
          </a:p>
          <a:p>
            <a:r>
              <a:rPr lang="en-US" i="1" dirty="0"/>
              <a:t>Wind Speed </a:t>
            </a:r>
          </a:p>
          <a:p>
            <a:r>
              <a:rPr lang="en-US" i="1" dirty="0"/>
              <a:t>Wind Direction</a:t>
            </a:r>
          </a:p>
          <a:p>
            <a:r>
              <a:rPr lang="en-US" i="1" dirty="0"/>
              <a:t>Temperature</a:t>
            </a:r>
          </a:p>
          <a:p>
            <a:r>
              <a:rPr lang="en-US" i="1" dirty="0"/>
              <a:t>Pressure</a:t>
            </a:r>
            <a:r>
              <a:rPr lang="en-US" dirty="0"/>
              <a:t> </a:t>
            </a:r>
          </a:p>
          <a:p>
            <a:r>
              <a:rPr lang="en-US" i="1" dirty="0"/>
              <a:t>Humidity</a:t>
            </a:r>
          </a:p>
          <a:p>
            <a:r>
              <a:rPr lang="en-US" i="1" dirty="0"/>
              <a:t>Production</a:t>
            </a:r>
            <a:r>
              <a:rPr lang="en-US" dirty="0"/>
              <a:t> from 3 forecast providers and </a:t>
            </a:r>
          </a:p>
          <a:p>
            <a:r>
              <a:rPr lang="en-US" i="1" dirty="0"/>
              <a:t>Actual Power Production</a:t>
            </a:r>
            <a:r>
              <a:rPr lang="en-US" dirty="0"/>
              <a:t> data of the power plant up until the forecast period. </a:t>
            </a:r>
            <a:endParaRPr lang="en-US" dirty="0">
              <a:effectLst/>
            </a:endParaRPr>
          </a:p>
          <a:p>
            <a:endParaRPr lang="en-TR" dirty="0"/>
          </a:p>
        </p:txBody>
      </p:sp>
    </p:spTree>
    <p:extLst>
      <p:ext uri="{BB962C8B-B14F-4D97-AF65-F5344CB8AC3E}">
        <p14:creationId xmlns:p14="http://schemas.microsoft.com/office/powerpoint/2010/main" val="1899525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8D9A-5282-3047-BE29-A81770579E37}"/>
              </a:ext>
            </a:extLst>
          </p:cNvPr>
          <p:cNvSpPr>
            <a:spLocks noGrp="1"/>
          </p:cNvSpPr>
          <p:nvPr>
            <p:ph type="title"/>
          </p:nvPr>
        </p:nvSpPr>
        <p:spPr/>
        <p:txBody>
          <a:bodyPr/>
          <a:lstStyle/>
          <a:p>
            <a:r>
              <a:rPr lang="en-TR" sz="4000" dirty="0"/>
              <a:t>Data Understanding</a:t>
            </a:r>
            <a:br>
              <a:rPr lang="en-TR" dirty="0"/>
            </a:br>
            <a:r>
              <a:rPr lang="en-TR" sz="2600" dirty="0"/>
              <a:t>Time Related Feature Extraction</a:t>
            </a:r>
          </a:p>
        </p:txBody>
      </p:sp>
      <p:sp>
        <p:nvSpPr>
          <p:cNvPr id="3" name="Content Placeholder 2">
            <a:extLst>
              <a:ext uri="{FF2B5EF4-FFF2-40B4-BE49-F238E27FC236}">
                <a16:creationId xmlns:a16="http://schemas.microsoft.com/office/drawing/2014/main" id="{C87FA9CF-2035-704C-A54B-76CD8B0A8795}"/>
              </a:ext>
            </a:extLst>
          </p:cNvPr>
          <p:cNvSpPr>
            <a:spLocks noGrp="1"/>
          </p:cNvSpPr>
          <p:nvPr>
            <p:ph idx="1"/>
          </p:nvPr>
        </p:nvSpPr>
        <p:spPr/>
        <p:txBody>
          <a:bodyPr/>
          <a:lstStyle/>
          <a:p>
            <a:r>
              <a:rPr lang="en-TR" dirty="0"/>
              <a:t>We tried adding several time related features.</a:t>
            </a:r>
          </a:p>
          <a:p>
            <a:pPr lvl="1"/>
            <a:r>
              <a:rPr lang="en-TR" i="1" dirty="0"/>
              <a:t>Season</a:t>
            </a:r>
            <a:r>
              <a:rPr lang="en-TR" dirty="0"/>
              <a:t> (One-hot encoding is used)</a:t>
            </a:r>
          </a:p>
          <a:p>
            <a:pPr lvl="1"/>
            <a:r>
              <a:rPr lang="en-TR" i="1" dirty="0"/>
              <a:t>Hour</a:t>
            </a:r>
            <a:r>
              <a:rPr lang="en-TR" dirty="0"/>
              <a:t> (sin, cos and tan functions are used to represent the periodicity of this feature)</a:t>
            </a:r>
          </a:p>
          <a:p>
            <a:pPr lvl="1"/>
            <a:r>
              <a:rPr lang="en-TR" i="1" dirty="0"/>
              <a:t>Month</a:t>
            </a:r>
            <a:r>
              <a:rPr lang="en-TR" dirty="0"/>
              <a:t> (sin, cos and tan functions are used to represent the periodicity of this feature)</a:t>
            </a:r>
          </a:p>
          <a:p>
            <a:pPr lvl="1"/>
            <a:r>
              <a:rPr lang="en-TR" i="1" dirty="0"/>
              <a:t>Holidays</a:t>
            </a:r>
            <a:r>
              <a:rPr lang="en-TR" dirty="0"/>
              <a:t> (national holidays of Turkey)</a:t>
            </a:r>
          </a:p>
          <a:p>
            <a:pPr lvl="1"/>
            <a:r>
              <a:rPr lang="en-TR" i="1" dirty="0"/>
              <a:t>Weekdays</a:t>
            </a:r>
            <a:r>
              <a:rPr lang="en-TR" dirty="0"/>
              <a:t> (One-hot encoding is used)</a:t>
            </a:r>
          </a:p>
          <a:p>
            <a:r>
              <a:rPr lang="en-TR" dirty="0"/>
              <a:t>We dropped holidays, weekdays and tan(month) columns later on.</a:t>
            </a:r>
          </a:p>
          <a:p>
            <a:pPr lvl="1"/>
            <a:endParaRPr lang="en-TR" dirty="0"/>
          </a:p>
        </p:txBody>
      </p:sp>
    </p:spTree>
    <p:extLst>
      <p:ext uri="{BB962C8B-B14F-4D97-AF65-F5344CB8AC3E}">
        <p14:creationId xmlns:p14="http://schemas.microsoft.com/office/powerpoint/2010/main" val="93806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D2704-B43B-4740-AD61-5A365A19B3A5}"/>
              </a:ext>
            </a:extLst>
          </p:cNvPr>
          <p:cNvSpPr>
            <a:spLocks noGrp="1"/>
          </p:cNvSpPr>
          <p:nvPr>
            <p:ph type="title"/>
          </p:nvPr>
        </p:nvSpPr>
        <p:spPr>
          <a:xfrm>
            <a:off x="648929" y="557190"/>
            <a:ext cx="5181510" cy="1338845"/>
          </a:xfrm>
        </p:spPr>
        <p:txBody>
          <a:bodyPr>
            <a:normAutofit/>
          </a:bodyPr>
          <a:lstStyle/>
          <a:p>
            <a:r>
              <a:rPr lang="en-TR" sz="4000" dirty="0"/>
              <a:t>Data Understanding</a:t>
            </a:r>
            <a:br>
              <a:rPr lang="en-TR" sz="4000" dirty="0"/>
            </a:br>
            <a:r>
              <a:rPr lang="en-TR" sz="2600" dirty="0"/>
              <a:t>Missing Values</a:t>
            </a:r>
          </a:p>
        </p:txBody>
      </p:sp>
      <p:sp>
        <p:nvSpPr>
          <p:cNvPr id="9" name="Content Placeholder 8">
            <a:extLst>
              <a:ext uri="{FF2B5EF4-FFF2-40B4-BE49-F238E27FC236}">
                <a16:creationId xmlns:a16="http://schemas.microsoft.com/office/drawing/2014/main" id="{632EB572-566E-4F1F-96B4-16279DC79344}"/>
              </a:ext>
            </a:extLst>
          </p:cNvPr>
          <p:cNvSpPr>
            <a:spLocks noGrp="1"/>
          </p:cNvSpPr>
          <p:nvPr>
            <p:ph idx="1"/>
          </p:nvPr>
        </p:nvSpPr>
        <p:spPr>
          <a:xfrm>
            <a:off x="648929" y="2127766"/>
            <a:ext cx="5181508" cy="3722438"/>
          </a:xfrm>
        </p:spPr>
        <p:txBody>
          <a:bodyPr>
            <a:normAutofit lnSpcReduction="10000"/>
          </a:bodyPr>
          <a:lstStyle/>
          <a:p>
            <a:r>
              <a:rPr lang="en-US" sz="2000" dirty="0"/>
              <a:t>Here we can see the columns of the data and their distributions.</a:t>
            </a:r>
          </a:p>
          <a:p>
            <a:r>
              <a:rPr lang="en-US" sz="2000" dirty="0"/>
              <a:t>We can see that there are missing values in some columns.</a:t>
            </a:r>
          </a:p>
          <a:p>
            <a:endParaRPr lang="en-US" sz="2000" dirty="0"/>
          </a:p>
          <a:p>
            <a:endParaRPr lang="en-US" sz="2000" dirty="0"/>
          </a:p>
          <a:p>
            <a:endParaRPr lang="en-US" sz="2000" dirty="0"/>
          </a:p>
          <a:p>
            <a:endParaRPr lang="en-US" sz="2000" dirty="0"/>
          </a:p>
          <a:p>
            <a:r>
              <a:rPr lang="en-US" sz="2000" dirty="0"/>
              <a:t>But before imputing, it is important to check that data for outliers too.</a:t>
            </a:r>
          </a:p>
        </p:txBody>
      </p:sp>
      <p:pic>
        <p:nvPicPr>
          <p:cNvPr id="5" name="Content Placeholder 4" descr="A picture containing application&#10;&#10;Description automatically generated">
            <a:extLst>
              <a:ext uri="{FF2B5EF4-FFF2-40B4-BE49-F238E27FC236}">
                <a16:creationId xmlns:a16="http://schemas.microsoft.com/office/drawing/2014/main" id="{BF348E64-E622-0149-B9A0-D736AAD8A551}"/>
              </a:ext>
            </a:extLst>
          </p:cNvPr>
          <p:cNvPicPr>
            <a:picLocks noChangeAspect="1"/>
          </p:cNvPicPr>
          <p:nvPr/>
        </p:nvPicPr>
        <p:blipFill rotWithShape="1">
          <a:blip r:embed="rId2"/>
          <a:srcRect t="2859" r="2" b="2033"/>
          <a:stretch/>
        </p:blipFill>
        <p:spPr>
          <a:xfrm>
            <a:off x="6189155" y="10"/>
            <a:ext cx="6002844" cy="6857990"/>
          </a:xfrm>
          <a:prstGeom prst="rect">
            <a:avLst/>
          </a:prstGeom>
          <a:effectLst/>
        </p:spPr>
      </p:pic>
      <p:pic>
        <p:nvPicPr>
          <p:cNvPr id="7" name="Picture 6" descr="Table&#10;&#10;Description automatically generated with low confidence">
            <a:extLst>
              <a:ext uri="{FF2B5EF4-FFF2-40B4-BE49-F238E27FC236}">
                <a16:creationId xmlns:a16="http://schemas.microsoft.com/office/drawing/2014/main" id="{552ADD90-4BF4-5440-B3B5-AA711028ACA9}"/>
              </a:ext>
            </a:extLst>
          </p:cNvPr>
          <p:cNvPicPr>
            <a:picLocks noChangeAspect="1"/>
          </p:cNvPicPr>
          <p:nvPr/>
        </p:nvPicPr>
        <p:blipFill>
          <a:blip r:embed="rId3"/>
          <a:stretch>
            <a:fillRect/>
          </a:stretch>
        </p:blipFill>
        <p:spPr>
          <a:xfrm>
            <a:off x="735330" y="3715852"/>
            <a:ext cx="5360670" cy="1108788"/>
          </a:xfrm>
          <a:prstGeom prst="rect">
            <a:avLst/>
          </a:prstGeom>
        </p:spPr>
      </p:pic>
    </p:spTree>
    <p:extLst>
      <p:ext uri="{BB962C8B-B14F-4D97-AF65-F5344CB8AC3E}">
        <p14:creationId xmlns:p14="http://schemas.microsoft.com/office/powerpoint/2010/main" val="1051010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B08-36EA-B14F-B7F0-BD17CC19D210}"/>
              </a:ext>
            </a:extLst>
          </p:cNvPr>
          <p:cNvSpPr>
            <a:spLocks noGrp="1"/>
          </p:cNvSpPr>
          <p:nvPr>
            <p:ph type="title"/>
          </p:nvPr>
        </p:nvSpPr>
        <p:spPr>
          <a:xfrm>
            <a:off x="838200" y="556337"/>
            <a:ext cx="6797405" cy="1259016"/>
          </a:xfrm>
        </p:spPr>
        <p:txBody>
          <a:bodyPr>
            <a:normAutofit/>
          </a:bodyPr>
          <a:lstStyle/>
          <a:p>
            <a:r>
              <a:rPr lang="en-TR" sz="4000" dirty="0"/>
              <a:t>Data Understanding</a:t>
            </a:r>
            <a:br>
              <a:rPr lang="en-TR" sz="4000" dirty="0"/>
            </a:br>
            <a:r>
              <a:rPr lang="en-TR" sz="2600" dirty="0"/>
              <a:t>Outliers</a:t>
            </a:r>
          </a:p>
        </p:txBody>
      </p:sp>
      <p:sp>
        <p:nvSpPr>
          <p:cNvPr id="11" name="Content Placeholder 10">
            <a:extLst>
              <a:ext uri="{FF2B5EF4-FFF2-40B4-BE49-F238E27FC236}">
                <a16:creationId xmlns:a16="http://schemas.microsoft.com/office/drawing/2014/main" id="{150CEE07-BC76-41F2-9050-4D196CE16D2F}"/>
              </a:ext>
            </a:extLst>
          </p:cNvPr>
          <p:cNvSpPr>
            <a:spLocks noGrp="1"/>
          </p:cNvSpPr>
          <p:nvPr>
            <p:ph idx="1"/>
          </p:nvPr>
        </p:nvSpPr>
        <p:spPr>
          <a:xfrm>
            <a:off x="838200" y="1815353"/>
            <a:ext cx="6797405" cy="3719384"/>
          </a:xfrm>
        </p:spPr>
        <p:txBody>
          <a:bodyPr>
            <a:noAutofit/>
          </a:bodyPr>
          <a:lstStyle/>
          <a:p>
            <a:r>
              <a:rPr lang="en-US" sz="2600" dirty="0"/>
              <a:t>For the extreme values in Humidity and Pressure data of Provider 3, we first tried to observe the values: </a:t>
            </a:r>
          </a:p>
          <a:p>
            <a:r>
              <a:rPr lang="en-US" sz="2600" dirty="0"/>
              <a:t>Humidity values: We assumed these extreme values should be on par with the rest, so we divided them by 10. </a:t>
            </a:r>
          </a:p>
          <a:p>
            <a:r>
              <a:rPr lang="en-US" sz="2600" dirty="0"/>
              <a:t>Pressure values: We assumed these extreme values should be around the rest of the values, so we added “88000” to these.</a:t>
            </a:r>
            <a:endParaRPr lang="en-US" sz="2600" dirty="0">
              <a:effectLst/>
            </a:endParaRPr>
          </a:p>
          <a:p>
            <a:endParaRPr lang="en-US" sz="2600" dirty="0">
              <a:effectLst/>
            </a:endParaRPr>
          </a:p>
          <a:p>
            <a:endParaRPr lang="en-US" sz="2600" dirty="0">
              <a:effectLst/>
            </a:endParaRPr>
          </a:p>
          <a:p>
            <a:endParaRPr lang="en-US" sz="2600" dirty="0"/>
          </a:p>
        </p:txBody>
      </p:sp>
      <p:pic>
        <p:nvPicPr>
          <p:cNvPr id="5" name="Content Placeholder 4" descr="Table&#10;&#10;Description automatically generated">
            <a:extLst>
              <a:ext uri="{FF2B5EF4-FFF2-40B4-BE49-F238E27FC236}">
                <a16:creationId xmlns:a16="http://schemas.microsoft.com/office/drawing/2014/main" id="{6C1E8FAA-F73D-3F45-9651-8E6A21AEA9BE}"/>
              </a:ext>
            </a:extLst>
          </p:cNvPr>
          <p:cNvPicPr>
            <a:picLocks noChangeAspect="1"/>
          </p:cNvPicPr>
          <p:nvPr/>
        </p:nvPicPr>
        <p:blipFill>
          <a:blip r:embed="rId2"/>
          <a:stretch>
            <a:fillRect/>
          </a:stretch>
        </p:blipFill>
        <p:spPr>
          <a:xfrm>
            <a:off x="8069437" y="168168"/>
            <a:ext cx="3851861" cy="3168155"/>
          </a:xfrm>
          <a:prstGeom prst="rect">
            <a:avLst/>
          </a:prstGeom>
        </p:spPr>
      </p:pic>
      <p:pic>
        <p:nvPicPr>
          <p:cNvPr id="7" name="Picture 6" descr="Table&#10;&#10;Description automatically generated">
            <a:extLst>
              <a:ext uri="{FF2B5EF4-FFF2-40B4-BE49-F238E27FC236}">
                <a16:creationId xmlns:a16="http://schemas.microsoft.com/office/drawing/2014/main" id="{11E5E453-1B55-3249-B8A9-054516728692}"/>
              </a:ext>
            </a:extLst>
          </p:cNvPr>
          <p:cNvPicPr>
            <a:picLocks noChangeAspect="1"/>
          </p:cNvPicPr>
          <p:nvPr/>
        </p:nvPicPr>
        <p:blipFill>
          <a:blip r:embed="rId3"/>
          <a:stretch>
            <a:fillRect/>
          </a:stretch>
        </p:blipFill>
        <p:spPr>
          <a:xfrm>
            <a:off x="8069437" y="3504491"/>
            <a:ext cx="3875420" cy="3168156"/>
          </a:xfrm>
          <a:prstGeom prst="rect">
            <a:avLst/>
          </a:prstGeom>
        </p:spPr>
      </p:pic>
    </p:spTree>
    <p:extLst>
      <p:ext uri="{BB962C8B-B14F-4D97-AF65-F5344CB8AC3E}">
        <p14:creationId xmlns:p14="http://schemas.microsoft.com/office/powerpoint/2010/main" val="2892497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D005-BF3A-3E42-93F3-B326EEF9EBD3}"/>
              </a:ext>
            </a:extLst>
          </p:cNvPr>
          <p:cNvSpPr>
            <a:spLocks noGrp="1"/>
          </p:cNvSpPr>
          <p:nvPr>
            <p:ph type="title"/>
          </p:nvPr>
        </p:nvSpPr>
        <p:spPr/>
        <p:txBody>
          <a:bodyPr>
            <a:normAutofit/>
          </a:bodyPr>
          <a:lstStyle/>
          <a:p>
            <a:r>
              <a:rPr lang="en-TR" dirty="0"/>
              <a:t>Data Understanding</a:t>
            </a:r>
            <a:br>
              <a:rPr lang="en-TR" dirty="0"/>
            </a:br>
            <a:r>
              <a:rPr lang="en-TR" sz="2400" dirty="0"/>
              <a:t>Missing Value Imputing</a:t>
            </a:r>
            <a:endParaRPr lang="en-TR" dirty="0"/>
          </a:p>
        </p:txBody>
      </p:sp>
      <p:sp>
        <p:nvSpPr>
          <p:cNvPr id="3" name="Content Placeholder 2">
            <a:extLst>
              <a:ext uri="{FF2B5EF4-FFF2-40B4-BE49-F238E27FC236}">
                <a16:creationId xmlns:a16="http://schemas.microsoft.com/office/drawing/2014/main" id="{DE46D99B-BB03-7649-ADC8-C9D4D987CC1A}"/>
              </a:ext>
            </a:extLst>
          </p:cNvPr>
          <p:cNvSpPr>
            <a:spLocks noGrp="1"/>
          </p:cNvSpPr>
          <p:nvPr>
            <p:ph idx="1"/>
          </p:nvPr>
        </p:nvSpPr>
        <p:spPr>
          <a:xfrm>
            <a:off x="677334" y="2060577"/>
            <a:ext cx="5937779" cy="3880773"/>
          </a:xfrm>
        </p:spPr>
        <p:txBody>
          <a:bodyPr/>
          <a:lstStyle/>
          <a:p>
            <a:r>
              <a:rPr lang="en-US" dirty="0"/>
              <a:t>We used two methods to impute the missing values: </a:t>
            </a:r>
          </a:p>
          <a:p>
            <a:pPr lvl="1"/>
            <a:r>
              <a:rPr lang="en-US" dirty="0" err="1"/>
              <a:t>KNNImputer</a:t>
            </a:r>
            <a:r>
              <a:rPr lang="en-US" dirty="0"/>
              <a:t> with 5 neighbors, which tries to impute the missing values by using a </a:t>
            </a:r>
            <a:r>
              <a:rPr lang="en-US" dirty="0" err="1"/>
              <a:t>k_neighbors</a:t>
            </a:r>
            <a:r>
              <a:rPr lang="en-US" dirty="0"/>
              <a:t> algorithm. </a:t>
            </a:r>
          </a:p>
          <a:p>
            <a:pPr lvl="1"/>
            <a:r>
              <a:rPr lang="en-US" dirty="0" err="1"/>
              <a:t>IterativeImputer</a:t>
            </a:r>
            <a:endParaRPr lang="en-TR" dirty="0"/>
          </a:p>
          <a:p>
            <a:r>
              <a:rPr lang="en-TR" dirty="0"/>
              <a:t>We preferred IterativeImputer’s results which can be seen on the right.</a:t>
            </a:r>
            <a:endParaRPr lang="en-US" dirty="0"/>
          </a:p>
        </p:txBody>
      </p:sp>
      <p:pic>
        <p:nvPicPr>
          <p:cNvPr id="5" name="Picture 4" descr="A picture containing application&#10;&#10;Description automatically generated">
            <a:extLst>
              <a:ext uri="{FF2B5EF4-FFF2-40B4-BE49-F238E27FC236}">
                <a16:creationId xmlns:a16="http://schemas.microsoft.com/office/drawing/2014/main" id="{5E9B1447-B2E1-024C-BEDE-9EDA0405B58B}"/>
              </a:ext>
            </a:extLst>
          </p:cNvPr>
          <p:cNvPicPr>
            <a:picLocks noChangeAspect="1"/>
          </p:cNvPicPr>
          <p:nvPr/>
        </p:nvPicPr>
        <p:blipFill>
          <a:blip r:embed="rId2"/>
          <a:stretch>
            <a:fillRect/>
          </a:stretch>
        </p:blipFill>
        <p:spPr>
          <a:xfrm>
            <a:off x="6226002" y="-457200"/>
            <a:ext cx="6096000" cy="7315200"/>
          </a:xfrm>
          <a:prstGeom prst="rect">
            <a:avLst/>
          </a:prstGeom>
        </p:spPr>
      </p:pic>
    </p:spTree>
    <p:extLst>
      <p:ext uri="{BB962C8B-B14F-4D97-AF65-F5344CB8AC3E}">
        <p14:creationId xmlns:p14="http://schemas.microsoft.com/office/powerpoint/2010/main" val="3546544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4400-56CE-9D45-94E7-C5F1E712C88E}"/>
              </a:ext>
            </a:extLst>
          </p:cNvPr>
          <p:cNvSpPr>
            <a:spLocks noGrp="1"/>
          </p:cNvSpPr>
          <p:nvPr>
            <p:ph type="title"/>
          </p:nvPr>
        </p:nvSpPr>
        <p:spPr/>
        <p:txBody>
          <a:bodyPr/>
          <a:lstStyle/>
          <a:p>
            <a:r>
              <a:rPr lang="en-TR" sz="4000" dirty="0"/>
              <a:t>Data Understanding</a:t>
            </a:r>
            <a:br>
              <a:rPr lang="en-TR" dirty="0"/>
            </a:br>
            <a:r>
              <a:rPr lang="en-TR" sz="2600" dirty="0"/>
              <a:t>Distributions</a:t>
            </a:r>
          </a:p>
        </p:txBody>
      </p:sp>
      <p:pic>
        <p:nvPicPr>
          <p:cNvPr id="5" name="Content Placeholder 4" descr="Chart&#10;&#10;Description automatically generated">
            <a:extLst>
              <a:ext uri="{FF2B5EF4-FFF2-40B4-BE49-F238E27FC236}">
                <a16:creationId xmlns:a16="http://schemas.microsoft.com/office/drawing/2014/main" id="{126D7F8A-193E-0142-BC4B-8C60D11E9604}"/>
              </a:ext>
            </a:extLst>
          </p:cNvPr>
          <p:cNvPicPr>
            <a:picLocks noGrp="1" noChangeAspect="1"/>
          </p:cNvPicPr>
          <p:nvPr>
            <p:ph idx="1"/>
          </p:nvPr>
        </p:nvPicPr>
        <p:blipFill>
          <a:blip r:embed="rId2"/>
          <a:stretch>
            <a:fillRect/>
          </a:stretch>
        </p:blipFill>
        <p:spPr>
          <a:xfrm>
            <a:off x="8066813" y="3992400"/>
            <a:ext cx="4298400" cy="2865600"/>
          </a:xfrm>
        </p:spPr>
      </p:pic>
      <p:pic>
        <p:nvPicPr>
          <p:cNvPr id="7" name="Picture 6" descr="Histogram&#10;&#10;Description automatically generated">
            <a:extLst>
              <a:ext uri="{FF2B5EF4-FFF2-40B4-BE49-F238E27FC236}">
                <a16:creationId xmlns:a16="http://schemas.microsoft.com/office/drawing/2014/main" id="{D57BCD73-7621-F548-AB48-F6F819D7E204}"/>
              </a:ext>
            </a:extLst>
          </p:cNvPr>
          <p:cNvPicPr>
            <a:picLocks noChangeAspect="1"/>
          </p:cNvPicPr>
          <p:nvPr/>
        </p:nvPicPr>
        <p:blipFill>
          <a:blip r:embed="rId3"/>
          <a:stretch>
            <a:fillRect/>
          </a:stretch>
        </p:blipFill>
        <p:spPr>
          <a:xfrm>
            <a:off x="8067453" y="1512311"/>
            <a:ext cx="4297120" cy="2864747"/>
          </a:xfrm>
          <a:prstGeom prst="rect">
            <a:avLst/>
          </a:prstGeom>
        </p:spPr>
      </p:pic>
      <p:pic>
        <p:nvPicPr>
          <p:cNvPr id="9" name="Picture 8" descr="Chart, histogram&#10;&#10;Description automatically generated">
            <a:extLst>
              <a:ext uri="{FF2B5EF4-FFF2-40B4-BE49-F238E27FC236}">
                <a16:creationId xmlns:a16="http://schemas.microsoft.com/office/drawing/2014/main" id="{FBCE76C9-E76C-5D47-85AA-3D8A6441DE8E}"/>
              </a:ext>
            </a:extLst>
          </p:cNvPr>
          <p:cNvPicPr>
            <a:picLocks noChangeAspect="1"/>
          </p:cNvPicPr>
          <p:nvPr/>
        </p:nvPicPr>
        <p:blipFill>
          <a:blip r:embed="rId4"/>
          <a:stretch>
            <a:fillRect/>
          </a:stretch>
        </p:blipFill>
        <p:spPr>
          <a:xfrm>
            <a:off x="4124548" y="4020288"/>
            <a:ext cx="4297120" cy="2864747"/>
          </a:xfrm>
          <a:prstGeom prst="rect">
            <a:avLst/>
          </a:prstGeom>
        </p:spPr>
      </p:pic>
      <p:pic>
        <p:nvPicPr>
          <p:cNvPr id="11" name="Picture 10" descr="Chart, histogram&#10;&#10;Description automatically generated">
            <a:extLst>
              <a:ext uri="{FF2B5EF4-FFF2-40B4-BE49-F238E27FC236}">
                <a16:creationId xmlns:a16="http://schemas.microsoft.com/office/drawing/2014/main" id="{A80EDEAC-8660-1044-BE2B-7440B869415F}"/>
              </a:ext>
            </a:extLst>
          </p:cNvPr>
          <p:cNvPicPr>
            <a:picLocks noChangeAspect="1"/>
          </p:cNvPicPr>
          <p:nvPr/>
        </p:nvPicPr>
        <p:blipFill>
          <a:blip r:embed="rId5"/>
          <a:stretch>
            <a:fillRect/>
          </a:stretch>
        </p:blipFill>
        <p:spPr>
          <a:xfrm>
            <a:off x="315359" y="4020288"/>
            <a:ext cx="4297120" cy="2864747"/>
          </a:xfrm>
          <a:prstGeom prst="rect">
            <a:avLst/>
          </a:prstGeom>
        </p:spPr>
      </p:pic>
      <p:pic>
        <p:nvPicPr>
          <p:cNvPr id="13" name="Picture 12" descr="Chart, histogram&#10;&#10;Description automatically generated">
            <a:extLst>
              <a:ext uri="{FF2B5EF4-FFF2-40B4-BE49-F238E27FC236}">
                <a16:creationId xmlns:a16="http://schemas.microsoft.com/office/drawing/2014/main" id="{3AEB8D01-0046-3743-89D3-B2B0927F5E68}"/>
              </a:ext>
            </a:extLst>
          </p:cNvPr>
          <p:cNvPicPr>
            <a:picLocks noChangeAspect="1"/>
          </p:cNvPicPr>
          <p:nvPr/>
        </p:nvPicPr>
        <p:blipFill>
          <a:blip r:embed="rId6"/>
          <a:stretch>
            <a:fillRect/>
          </a:stretch>
        </p:blipFill>
        <p:spPr>
          <a:xfrm>
            <a:off x="4089637" y="1537726"/>
            <a:ext cx="4297120" cy="2864747"/>
          </a:xfrm>
          <a:prstGeom prst="rect">
            <a:avLst/>
          </a:prstGeom>
        </p:spPr>
      </p:pic>
      <p:sp>
        <p:nvSpPr>
          <p:cNvPr id="14" name="TextBox 13">
            <a:extLst>
              <a:ext uri="{FF2B5EF4-FFF2-40B4-BE49-F238E27FC236}">
                <a16:creationId xmlns:a16="http://schemas.microsoft.com/office/drawing/2014/main" id="{490A09AE-214A-E441-B682-C547ECDFFF7C}"/>
              </a:ext>
            </a:extLst>
          </p:cNvPr>
          <p:cNvSpPr txBox="1"/>
          <p:nvPr/>
        </p:nvSpPr>
        <p:spPr>
          <a:xfrm>
            <a:off x="838200" y="1849120"/>
            <a:ext cx="3358512" cy="2308324"/>
          </a:xfrm>
          <a:prstGeom prst="rect">
            <a:avLst/>
          </a:prstGeom>
          <a:noFill/>
        </p:spPr>
        <p:txBody>
          <a:bodyPr wrap="square" rtlCol="0">
            <a:spAutoFit/>
          </a:bodyPr>
          <a:lstStyle/>
          <a:p>
            <a:pPr marL="285750" indent="-285750">
              <a:buFont typeface="Arial" panose="020B0604020202020204" pitchFamily="34" charset="0"/>
              <a:buChar char="•"/>
            </a:pPr>
            <a:r>
              <a:rPr lang="en-TR" dirty="0"/>
              <a:t>The distribution of all the values in our data an be seen on the right. </a:t>
            </a:r>
          </a:p>
          <a:p>
            <a:pPr marL="285750" indent="-285750">
              <a:buFont typeface="Arial" panose="020B0604020202020204" pitchFamily="34" charset="0"/>
              <a:buChar char="•"/>
            </a:pPr>
            <a:r>
              <a:rPr lang="en-TR" dirty="0"/>
              <a:t>The distributions are very close together except for pressure of provider 3 and humidity of provider 2.</a:t>
            </a:r>
          </a:p>
          <a:p>
            <a:pPr marL="285750" indent="-285750">
              <a:buFont typeface="Arial" panose="020B0604020202020204" pitchFamily="34" charset="0"/>
              <a:buChar char="•"/>
            </a:pPr>
            <a:endParaRPr lang="en-TR" dirty="0"/>
          </a:p>
        </p:txBody>
      </p:sp>
    </p:spTree>
    <p:extLst>
      <p:ext uri="{BB962C8B-B14F-4D97-AF65-F5344CB8AC3E}">
        <p14:creationId xmlns:p14="http://schemas.microsoft.com/office/powerpoint/2010/main" val="126698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9E7EC-1196-CF46-A12E-8E223F8E9FFC}"/>
              </a:ext>
            </a:extLst>
          </p:cNvPr>
          <p:cNvSpPr>
            <a:spLocks noGrp="1"/>
          </p:cNvSpPr>
          <p:nvPr>
            <p:ph type="title"/>
          </p:nvPr>
        </p:nvSpPr>
        <p:spPr/>
        <p:txBody>
          <a:bodyPr/>
          <a:lstStyle/>
          <a:p>
            <a:r>
              <a:rPr lang="en-TR" sz="4000" dirty="0"/>
              <a:t>Data Understanding</a:t>
            </a:r>
            <a:br>
              <a:rPr lang="en-TR" dirty="0"/>
            </a:br>
            <a:r>
              <a:rPr lang="en-TR" sz="2600" dirty="0"/>
              <a:t>Correlation of the Features</a:t>
            </a:r>
          </a:p>
        </p:txBody>
      </p:sp>
      <p:pic>
        <p:nvPicPr>
          <p:cNvPr id="5" name="Content Placeholder 4">
            <a:extLst>
              <a:ext uri="{FF2B5EF4-FFF2-40B4-BE49-F238E27FC236}">
                <a16:creationId xmlns:a16="http://schemas.microsoft.com/office/drawing/2014/main" id="{4F0ED998-5599-7A46-86A1-66544634B285}"/>
              </a:ext>
            </a:extLst>
          </p:cNvPr>
          <p:cNvPicPr>
            <a:picLocks noGrp="1" noChangeAspect="1"/>
          </p:cNvPicPr>
          <p:nvPr>
            <p:ph idx="1"/>
          </p:nvPr>
        </p:nvPicPr>
        <p:blipFill>
          <a:blip r:embed="rId2"/>
          <a:stretch>
            <a:fillRect/>
          </a:stretch>
        </p:blipFill>
        <p:spPr>
          <a:xfrm>
            <a:off x="6096000" y="-130328"/>
            <a:ext cx="6988328" cy="6988328"/>
          </a:xfrm>
        </p:spPr>
      </p:pic>
      <p:sp>
        <p:nvSpPr>
          <p:cNvPr id="6" name="TextBox 5">
            <a:extLst>
              <a:ext uri="{FF2B5EF4-FFF2-40B4-BE49-F238E27FC236}">
                <a16:creationId xmlns:a16="http://schemas.microsoft.com/office/drawing/2014/main" id="{A04634D9-DD8F-D040-99B1-5E73A70860CB}"/>
              </a:ext>
            </a:extLst>
          </p:cNvPr>
          <p:cNvSpPr txBox="1"/>
          <p:nvPr/>
        </p:nvSpPr>
        <p:spPr>
          <a:xfrm>
            <a:off x="838199" y="2031999"/>
            <a:ext cx="5495365" cy="2862322"/>
          </a:xfrm>
          <a:prstGeom prst="rect">
            <a:avLst/>
          </a:prstGeom>
          <a:noFill/>
        </p:spPr>
        <p:txBody>
          <a:bodyPr wrap="square" rtlCol="0">
            <a:spAutoFit/>
          </a:bodyPr>
          <a:lstStyle/>
          <a:p>
            <a:pPr marL="285750" indent="-285750">
              <a:buFont typeface="Arial" panose="020B0604020202020204" pitchFamily="34" charset="0"/>
              <a:buChar char="•"/>
            </a:pPr>
            <a:r>
              <a:rPr lang="en-TR" sz="2000" dirty="0"/>
              <a:t>The correlation of all the features can be seen on the right.</a:t>
            </a:r>
          </a:p>
          <a:p>
            <a:pPr marL="285750" indent="-285750">
              <a:buFont typeface="Arial" panose="020B0604020202020204" pitchFamily="34" charset="0"/>
              <a:buChar char="•"/>
            </a:pPr>
            <a:r>
              <a:rPr lang="en-TR" sz="2000" dirty="0"/>
              <a:t>We can see all the production forecasts are highly correlated with each other.</a:t>
            </a:r>
          </a:p>
          <a:p>
            <a:pPr marL="285750" indent="-285750">
              <a:buFont typeface="Arial" panose="020B0604020202020204" pitchFamily="34" charset="0"/>
              <a:buChar char="•"/>
            </a:pPr>
            <a:r>
              <a:rPr lang="en-TR" sz="2000" dirty="0"/>
              <a:t>The actual power generation is correlated with the feature “PowerWOAvailability” of the Provider 3 the most. </a:t>
            </a:r>
          </a:p>
          <a:p>
            <a:pPr marL="285750" indent="-285750">
              <a:buFont typeface="Arial" panose="020B0604020202020204" pitchFamily="34" charset="0"/>
              <a:buChar char="•"/>
            </a:pPr>
            <a:r>
              <a:rPr lang="en-TR" sz="2000" dirty="0"/>
              <a:t>We can expect Provider 3’s forecast to be the best in the following analyses.</a:t>
            </a:r>
          </a:p>
        </p:txBody>
      </p:sp>
    </p:spTree>
    <p:extLst>
      <p:ext uri="{BB962C8B-B14F-4D97-AF65-F5344CB8AC3E}">
        <p14:creationId xmlns:p14="http://schemas.microsoft.com/office/powerpoint/2010/main" val="3317089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019D-A1A1-9544-B118-1A94044616D1}"/>
              </a:ext>
            </a:extLst>
          </p:cNvPr>
          <p:cNvSpPr>
            <a:spLocks noGrp="1"/>
          </p:cNvSpPr>
          <p:nvPr>
            <p:ph type="title"/>
          </p:nvPr>
        </p:nvSpPr>
        <p:spPr/>
        <p:txBody>
          <a:bodyPr/>
          <a:lstStyle/>
          <a:p>
            <a:r>
              <a:rPr lang="en-TR" sz="4000" dirty="0"/>
              <a:t>Data Preperation</a:t>
            </a:r>
            <a:br>
              <a:rPr lang="en-TR" dirty="0"/>
            </a:br>
            <a:r>
              <a:rPr lang="en-TR" sz="2600" dirty="0"/>
              <a:t>Scaling the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E59110-8700-3C46-98ED-678BCD317D76}"/>
                  </a:ext>
                </a:extLst>
              </p:cNvPr>
              <p:cNvSpPr>
                <a:spLocks noGrp="1"/>
              </p:cNvSpPr>
              <p:nvPr>
                <p:ph idx="1"/>
              </p:nvPr>
            </p:nvSpPr>
            <p:spPr/>
            <p:txBody>
              <a:bodyPr/>
              <a:lstStyle/>
              <a:p>
                <a:r>
                  <a:rPr lang="en-TR" dirty="0"/>
                  <a:t>We used StandardScaler() from the sklearn library for this process.</a:t>
                </a:r>
              </a:p>
              <a:p>
                <a:r>
                  <a:rPr lang="en-US" dirty="0"/>
                  <a:t>It is used to standardize features by removing the mean and scaling to unit variance</a:t>
                </a:r>
              </a:p>
              <a:p>
                <a:r>
                  <a:rPr lang="en-US" dirty="0"/>
                  <a:t>The standard score of a sample x is calculated as:</a:t>
                </a:r>
              </a:p>
              <a:p>
                <a:pPr marL="0" indent="0">
                  <a:buNone/>
                </a:pPr>
                <a:endParaRPr lang="tr-TR"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f>
                        <m:fPr>
                          <m:ctrlPr>
                            <a:rPr lang="tr-TR" sz="2400" b="0" i="1" smtClean="0">
                              <a:latin typeface="Cambria Math" panose="02040503050406030204" pitchFamily="18" charset="0"/>
                              <a:ea typeface="Cambria Math" panose="02040503050406030204" pitchFamily="18" charset="0"/>
                            </a:rPr>
                          </m:ctrlPr>
                        </m:fPr>
                        <m:num>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𝑋</m:t>
                              </m:r>
                              <m:r>
                                <a:rPr lang="tr-TR" sz="2400" b="0" i="1" smtClean="0">
                                  <a:latin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𝜇</m:t>
                              </m:r>
                            </m:e>
                          </m:d>
                        </m:num>
                        <m:den>
                          <m:r>
                            <a:rPr lang="tr-TR" sz="2400" b="0" i="1" smtClean="0">
                              <a:latin typeface="Cambria Math" panose="02040503050406030204" pitchFamily="18" charset="0"/>
                              <a:ea typeface="Cambria Math" panose="02040503050406030204" pitchFamily="18" charset="0"/>
                            </a:rPr>
                            <m:t>𝜎</m:t>
                          </m:r>
                        </m:den>
                      </m:f>
                    </m:oMath>
                  </m:oMathPara>
                </a14:m>
                <a:endParaRPr lang="en-TR" sz="2400" dirty="0"/>
              </a:p>
            </p:txBody>
          </p:sp>
        </mc:Choice>
        <mc:Fallback xmlns="">
          <p:sp>
            <p:nvSpPr>
              <p:cNvPr id="3" name="Content Placeholder 2">
                <a:extLst>
                  <a:ext uri="{FF2B5EF4-FFF2-40B4-BE49-F238E27FC236}">
                    <a16:creationId xmlns:a16="http://schemas.microsoft.com/office/drawing/2014/main" id="{85E59110-8700-3C46-98ED-678BCD317D76}"/>
                  </a:ext>
                </a:extLst>
              </p:cNvPr>
              <p:cNvSpPr>
                <a:spLocks noGrp="1" noRot="1" noChangeAspect="1" noMove="1" noResize="1" noEditPoints="1" noAdjustHandles="1" noChangeArrowheads="1" noChangeShapeType="1" noTextEdit="1"/>
              </p:cNvSpPr>
              <p:nvPr>
                <p:ph idx="1"/>
              </p:nvPr>
            </p:nvSpPr>
            <p:spPr>
              <a:blipFill>
                <a:blip r:embed="rId2"/>
                <a:stretch>
                  <a:fillRect l="-147" t="-326"/>
                </a:stretch>
              </a:blipFill>
            </p:spPr>
            <p:txBody>
              <a:bodyPr/>
              <a:lstStyle/>
              <a:p>
                <a:r>
                  <a:rPr lang="en-TR">
                    <a:noFill/>
                  </a:rPr>
                  <a:t> </a:t>
                </a:r>
              </a:p>
            </p:txBody>
          </p:sp>
        </mc:Fallback>
      </mc:AlternateContent>
    </p:spTree>
    <p:extLst>
      <p:ext uri="{BB962C8B-B14F-4D97-AF65-F5344CB8AC3E}">
        <p14:creationId xmlns:p14="http://schemas.microsoft.com/office/powerpoint/2010/main" val="1763488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A2063-2ADE-8B4C-96C4-9F0E86D1A50E}"/>
              </a:ext>
            </a:extLst>
          </p:cNvPr>
          <p:cNvSpPr>
            <a:spLocks noGrp="1"/>
          </p:cNvSpPr>
          <p:nvPr>
            <p:ph type="title"/>
          </p:nvPr>
        </p:nvSpPr>
        <p:spPr>
          <a:xfrm>
            <a:off x="838199" y="537883"/>
            <a:ext cx="4783697" cy="1942810"/>
          </a:xfrm>
        </p:spPr>
        <p:txBody>
          <a:bodyPr anchor="b">
            <a:normAutofit/>
          </a:bodyPr>
          <a:lstStyle/>
          <a:p>
            <a:r>
              <a:rPr lang="en-TR" sz="4000" dirty="0"/>
              <a:t>Data Preperation</a:t>
            </a:r>
            <a:br>
              <a:rPr lang="en-TR" sz="4000" dirty="0"/>
            </a:br>
            <a:r>
              <a:rPr lang="en-TR" sz="2600" dirty="0"/>
              <a:t>Feature Selection of the Original Features</a:t>
            </a:r>
          </a:p>
        </p:txBody>
      </p:sp>
      <p:sp>
        <p:nvSpPr>
          <p:cNvPr id="3" name="Content Placeholder 2">
            <a:extLst>
              <a:ext uri="{FF2B5EF4-FFF2-40B4-BE49-F238E27FC236}">
                <a16:creationId xmlns:a16="http://schemas.microsoft.com/office/drawing/2014/main" id="{EAC6D99C-6AC6-1F44-9570-4431CB2C9492}"/>
              </a:ext>
            </a:extLst>
          </p:cNvPr>
          <p:cNvSpPr>
            <a:spLocks noGrp="1"/>
          </p:cNvSpPr>
          <p:nvPr>
            <p:ph idx="1"/>
          </p:nvPr>
        </p:nvSpPr>
        <p:spPr>
          <a:xfrm>
            <a:off x="838199" y="2686323"/>
            <a:ext cx="4783697" cy="3433583"/>
          </a:xfrm>
        </p:spPr>
        <p:txBody>
          <a:bodyPr>
            <a:normAutofit fontScale="70000" lnSpcReduction="20000"/>
          </a:bodyPr>
          <a:lstStyle/>
          <a:p>
            <a:r>
              <a:rPr lang="en-TR" sz="2400" dirty="0"/>
              <a:t>We first checked the feature importances of the given data by using 2 algorithms.</a:t>
            </a:r>
          </a:p>
          <a:p>
            <a:pPr lvl="1"/>
            <a:r>
              <a:rPr lang="en-TR" sz="2000" dirty="0"/>
              <a:t>SelectKBest with f-regression (left)</a:t>
            </a:r>
          </a:p>
          <a:p>
            <a:pPr lvl="1"/>
            <a:r>
              <a:rPr lang="en-TR" sz="2000" dirty="0"/>
              <a:t>CatBoost Feature Importance (right)</a:t>
            </a:r>
          </a:p>
          <a:p>
            <a:r>
              <a:rPr lang="en-TR" sz="2400" dirty="0"/>
              <a:t>We can see that the most important features are the forecasts of the providers, 3 being the maximum, which is the result we expected from the correlation chart.</a:t>
            </a:r>
          </a:p>
          <a:p>
            <a:r>
              <a:rPr lang="en-TR" sz="2400" dirty="0"/>
              <a:t>CatBoost Regressor’s feature importances suggests we should not remove these features.</a:t>
            </a:r>
          </a:p>
        </p:txBody>
      </p:sp>
      <p:pic>
        <p:nvPicPr>
          <p:cNvPr id="5" name="Picture 4" descr="Table&#10;&#10;Description automatically generated">
            <a:extLst>
              <a:ext uri="{FF2B5EF4-FFF2-40B4-BE49-F238E27FC236}">
                <a16:creationId xmlns:a16="http://schemas.microsoft.com/office/drawing/2014/main" id="{F9EFB4B3-4901-2D4B-A31F-7AC1FA0D6223}"/>
              </a:ext>
            </a:extLst>
          </p:cNvPr>
          <p:cNvPicPr>
            <a:picLocks noChangeAspect="1"/>
          </p:cNvPicPr>
          <p:nvPr/>
        </p:nvPicPr>
        <p:blipFill>
          <a:blip r:embed="rId2"/>
          <a:stretch>
            <a:fillRect/>
          </a:stretch>
        </p:blipFill>
        <p:spPr>
          <a:xfrm>
            <a:off x="5988424" y="706567"/>
            <a:ext cx="5831541" cy="5700330"/>
          </a:xfrm>
          <a:prstGeom prst="rect">
            <a:avLst/>
          </a:prstGeom>
        </p:spPr>
      </p:pic>
    </p:spTree>
    <p:extLst>
      <p:ext uri="{BB962C8B-B14F-4D97-AF65-F5344CB8AC3E}">
        <p14:creationId xmlns:p14="http://schemas.microsoft.com/office/powerpoint/2010/main" val="276820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A2063-2ADE-8B4C-96C4-9F0E86D1A50E}"/>
              </a:ext>
            </a:extLst>
          </p:cNvPr>
          <p:cNvSpPr>
            <a:spLocks noGrp="1"/>
          </p:cNvSpPr>
          <p:nvPr>
            <p:ph type="title"/>
          </p:nvPr>
        </p:nvSpPr>
        <p:spPr>
          <a:xfrm>
            <a:off x="838200" y="556337"/>
            <a:ext cx="6797405" cy="1651404"/>
          </a:xfrm>
        </p:spPr>
        <p:txBody>
          <a:bodyPr>
            <a:normAutofit/>
          </a:bodyPr>
          <a:lstStyle/>
          <a:p>
            <a:r>
              <a:rPr lang="en-TR" sz="4400" dirty="0"/>
              <a:t>Data Preperation</a:t>
            </a:r>
            <a:br>
              <a:rPr lang="en-TR" sz="3700" dirty="0"/>
            </a:br>
            <a:r>
              <a:rPr lang="en-TR" sz="2900" dirty="0"/>
              <a:t>Feature Selection of the Time Related Features</a:t>
            </a:r>
          </a:p>
        </p:txBody>
      </p:sp>
      <p:sp>
        <p:nvSpPr>
          <p:cNvPr id="3" name="Content Placeholder 2">
            <a:extLst>
              <a:ext uri="{FF2B5EF4-FFF2-40B4-BE49-F238E27FC236}">
                <a16:creationId xmlns:a16="http://schemas.microsoft.com/office/drawing/2014/main" id="{EAC6D99C-6AC6-1F44-9570-4431CB2C9492}"/>
              </a:ext>
            </a:extLst>
          </p:cNvPr>
          <p:cNvSpPr>
            <a:spLocks noGrp="1"/>
          </p:cNvSpPr>
          <p:nvPr>
            <p:ph idx="1"/>
          </p:nvPr>
        </p:nvSpPr>
        <p:spPr>
          <a:xfrm>
            <a:off x="838200" y="2401330"/>
            <a:ext cx="6797405" cy="3719384"/>
          </a:xfrm>
        </p:spPr>
        <p:txBody>
          <a:bodyPr>
            <a:normAutofit/>
          </a:bodyPr>
          <a:lstStyle/>
          <a:p>
            <a:r>
              <a:rPr lang="en-TR" sz="2000" dirty="0"/>
              <a:t>We first checked the feature importances of the given data by using 2 algorithms.</a:t>
            </a:r>
          </a:p>
          <a:p>
            <a:pPr lvl="1"/>
            <a:r>
              <a:rPr lang="en-TR" sz="2000" dirty="0"/>
              <a:t>SelectKBest with f-regression (left)</a:t>
            </a:r>
          </a:p>
          <a:p>
            <a:pPr lvl="1"/>
            <a:r>
              <a:rPr lang="en-TR" sz="2000" dirty="0"/>
              <a:t>CatBoost Feature Importance (right)</a:t>
            </a:r>
          </a:p>
          <a:p>
            <a:r>
              <a:rPr lang="en-TR" sz="2000" dirty="0"/>
              <a:t>We dropped weekday, holidays and tan(month) features as a result.</a:t>
            </a:r>
          </a:p>
        </p:txBody>
      </p:sp>
      <p:pic>
        <p:nvPicPr>
          <p:cNvPr id="8" name="Picture 7" descr="Table&#10;&#10;Description automatically generated with low confidence">
            <a:extLst>
              <a:ext uri="{FF2B5EF4-FFF2-40B4-BE49-F238E27FC236}">
                <a16:creationId xmlns:a16="http://schemas.microsoft.com/office/drawing/2014/main" id="{1F3716B8-DA21-A64C-B130-C07719AEB438}"/>
              </a:ext>
            </a:extLst>
          </p:cNvPr>
          <p:cNvPicPr>
            <a:picLocks noChangeAspect="1"/>
          </p:cNvPicPr>
          <p:nvPr/>
        </p:nvPicPr>
        <p:blipFill>
          <a:blip r:embed="rId2"/>
          <a:stretch>
            <a:fillRect/>
          </a:stretch>
        </p:blipFill>
        <p:spPr>
          <a:xfrm>
            <a:off x="8362917" y="329298"/>
            <a:ext cx="1606686" cy="6120714"/>
          </a:xfrm>
          <a:prstGeom prst="rect">
            <a:avLst/>
          </a:prstGeom>
        </p:spPr>
      </p:pic>
      <p:pic>
        <p:nvPicPr>
          <p:cNvPr id="11" name="Picture 10" descr="Table&#10;&#10;Description automatically generated">
            <a:extLst>
              <a:ext uri="{FF2B5EF4-FFF2-40B4-BE49-F238E27FC236}">
                <a16:creationId xmlns:a16="http://schemas.microsoft.com/office/drawing/2014/main" id="{FDC4CF79-755C-0F40-86E1-4154884EB799}"/>
              </a:ext>
            </a:extLst>
          </p:cNvPr>
          <p:cNvPicPr>
            <a:picLocks noChangeAspect="1"/>
          </p:cNvPicPr>
          <p:nvPr/>
        </p:nvPicPr>
        <p:blipFill>
          <a:blip r:embed="rId3"/>
          <a:stretch>
            <a:fillRect/>
          </a:stretch>
        </p:blipFill>
        <p:spPr>
          <a:xfrm>
            <a:off x="9969603" y="329298"/>
            <a:ext cx="1728900" cy="6120000"/>
          </a:xfrm>
          <a:prstGeom prst="rect">
            <a:avLst/>
          </a:prstGeom>
        </p:spPr>
      </p:pic>
    </p:spTree>
    <p:extLst>
      <p:ext uri="{BB962C8B-B14F-4D97-AF65-F5344CB8AC3E}">
        <p14:creationId xmlns:p14="http://schemas.microsoft.com/office/powerpoint/2010/main" val="3413010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95A1C-CAB9-884C-B6DD-65D792E7A827}"/>
              </a:ext>
            </a:extLst>
          </p:cNvPr>
          <p:cNvSpPr>
            <a:spLocks noGrp="1"/>
          </p:cNvSpPr>
          <p:nvPr>
            <p:ph type="title"/>
          </p:nvPr>
        </p:nvSpPr>
        <p:spPr/>
        <p:txBody>
          <a:bodyPr/>
          <a:lstStyle/>
          <a:p>
            <a:r>
              <a:rPr lang="en-TR" sz="4000" dirty="0"/>
              <a:t>Modeling</a:t>
            </a:r>
            <a:br>
              <a:rPr lang="en-TR" dirty="0"/>
            </a:br>
            <a:r>
              <a:rPr lang="en-TR" sz="2600" dirty="0"/>
              <a:t>Models we tried</a:t>
            </a:r>
          </a:p>
        </p:txBody>
      </p:sp>
      <p:sp>
        <p:nvSpPr>
          <p:cNvPr id="3" name="Content Placeholder 2">
            <a:extLst>
              <a:ext uri="{FF2B5EF4-FFF2-40B4-BE49-F238E27FC236}">
                <a16:creationId xmlns:a16="http://schemas.microsoft.com/office/drawing/2014/main" id="{48831845-FE06-CA4C-9489-69D4EF5BD648}"/>
              </a:ext>
            </a:extLst>
          </p:cNvPr>
          <p:cNvSpPr>
            <a:spLocks noGrp="1"/>
          </p:cNvSpPr>
          <p:nvPr>
            <p:ph idx="1"/>
          </p:nvPr>
        </p:nvSpPr>
        <p:spPr/>
        <p:txBody>
          <a:bodyPr>
            <a:normAutofit fontScale="92500" lnSpcReduction="20000"/>
          </a:bodyPr>
          <a:lstStyle/>
          <a:p>
            <a:r>
              <a:rPr lang="en-TR" dirty="0"/>
              <a:t>We used the following models: </a:t>
            </a:r>
          </a:p>
          <a:p>
            <a:pPr lvl="1"/>
            <a:r>
              <a:rPr lang="en-US" dirty="0"/>
              <a:t>Linear Regression </a:t>
            </a:r>
            <a:endParaRPr lang="en-US" dirty="0">
              <a:effectLst/>
            </a:endParaRPr>
          </a:p>
          <a:p>
            <a:pPr lvl="1"/>
            <a:r>
              <a:rPr lang="en-US" dirty="0"/>
              <a:t>Lasso Regression </a:t>
            </a:r>
            <a:endParaRPr lang="en-US" dirty="0">
              <a:effectLst/>
            </a:endParaRPr>
          </a:p>
          <a:p>
            <a:pPr lvl="1"/>
            <a:r>
              <a:rPr lang="en-US" dirty="0"/>
              <a:t>Ridge Regression </a:t>
            </a:r>
            <a:endParaRPr lang="en-US" dirty="0">
              <a:effectLst/>
            </a:endParaRPr>
          </a:p>
          <a:p>
            <a:pPr lvl="1"/>
            <a:r>
              <a:rPr lang="en-US" dirty="0" err="1"/>
              <a:t>ElasticNet</a:t>
            </a:r>
            <a:r>
              <a:rPr lang="en-US" dirty="0"/>
              <a:t> Regression </a:t>
            </a:r>
            <a:endParaRPr lang="en-US" dirty="0">
              <a:effectLst/>
            </a:endParaRPr>
          </a:p>
          <a:p>
            <a:pPr lvl="1"/>
            <a:r>
              <a:rPr lang="en-US" dirty="0"/>
              <a:t>Support Vector Regression </a:t>
            </a:r>
            <a:endParaRPr lang="en-US" dirty="0">
              <a:effectLst/>
            </a:endParaRPr>
          </a:p>
          <a:p>
            <a:pPr lvl="1"/>
            <a:r>
              <a:rPr lang="en-US" dirty="0"/>
              <a:t>K Neighbors Regression </a:t>
            </a:r>
            <a:endParaRPr lang="en-US" dirty="0">
              <a:effectLst/>
            </a:endParaRPr>
          </a:p>
          <a:p>
            <a:pPr lvl="1"/>
            <a:r>
              <a:rPr lang="en-US" dirty="0" err="1"/>
              <a:t>RandomForest</a:t>
            </a:r>
            <a:r>
              <a:rPr lang="en-US" dirty="0"/>
              <a:t> Regression </a:t>
            </a:r>
            <a:endParaRPr lang="en-US" dirty="0">
              <a:effectLst/>
            </a:endParaRPr>
          </a:p>
          <a:p>
            <a:pPr lvl="1"/>
            <a:r>
              <a:rPr lang="en-US" dirty="0" err="1"/>
              <a:t>GradientBoosting</a:t>
            </a:r>
            <a:r>
              <a:rPr lang="en-US" dirty="0"/>
              <a:t> Regression </a:t>
            </a:r>
            <a:endParaRPr lang="en-US" dirty="0">
              <a:effectLst/>
            </a:endParaRPr>
          </a:p>
          <a:p>
            <a:pPr lvl="1"/>
            <a:r>
              <a:rPr lang="en-US" dirty="0" err="1"/>
              <a:t>CatBoost</a:t>
            </a:r>
            <a:r>
              <a:rPr lang="en-US" dirty="0"/>
              <a:t> Regression </a:t>
            </a:r>
            <a:endParaRPr lang="en-US" dirty="0">
              <a:effectLst/>
            </a:endParaRPr>
          </a:p>
          <a:p>
            <a:pPr lvl="1"/>
            <a:r>
              <a:rPr lang="en-US" dirty="0"/>
              <a:t>Facebook Prophet </a:t>
            </a:r>
            <a:endParaRPr lang="en-US" dirty="0">
              <a:effectLst/>
            </a:endParaRPr>
          </a:p>
          <a:p>
            <a:pPr lvl="1"/>
            <a:r>
              <a:rPr lang="en-US" dirty="0" err="1"/>
              <a:t>LightGBM</a:t>
            </a:r>
            <a:r>
              <a:rPr lang="en-US" dirty="0"/>
              <a:t> Regression </a:t>
            </a:r>
            <a:endParaRPr lang="en-US" dirty="0">
              <a:effectLst/>
            </a:endParaRPr>
          </a:p>
          <a:p>
            <a:endParaRPr lang="en-TR" dirty="0"/>
          </a:p>
        </p:txBody>
      </p:sp>
    </p:spTree>
    <p:extLst>
      <p:ext uri="{BB962C8B-B14F-4D97-AF65-F5344CB8AC3E}">
        <p14:creationId xmlns:p14="http://schemas.microsoft.com/office/powerpoint/2010/main" val="844363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CC15-D1BB-7448-A68B-4EB6A9DB2388}"/>
              </a:ext>
            </a:extLst>
          </p:cNvPr>
          <p:cNvSpPr>
            <a:spLocks noGrp="1"/>
          </p:cNvSpPr>
          <p:nvPr>
            <p:ph type="title"/>
          </p:nvPr>
        </p:nvSpPr>
        <p:spPr>
          <a:xfrm>
            <a:off x="838199" y="537883"/>
            <a:ext cx="5257801" cy="1942810"/>
          </a:xfrm>
        </p:spPr>
        <p:txBody>
          <a:bodyPr anchor="b">
            <a:normAutofit/>
          </a:bodyPr>
          <a:lstStyle/>
          <a:p>
            <a:r>
              <a:rPr lang="en-TR" sz="4000" dirty="0"/>
              <a:t>Modeling</a:t>
            </a:r>
            <a:br>
              <a:rPr lang="en-TR" sz="4000" dirty="0"/>
            </a:br>
            <a:r>
              <a:rPr lang="en-TR" sz="2600" dirty="0"/>
              <a:t>Cross Validation and Train-Test Split</a:t>
            </a:r>
          </a:p>
        </p:txBody>
      </p:sp>
      <p:sp>
        <p:nvSpPr>
          <p:cNvPr id="3" name="Content Placeholder 2">
            <a:extLst>
              <a:ext uri="{FF2B5EF4-FFF2-40B4-BE49-F238E27FC236}">
                <a16:creationId xmlns:a16="http://schemas.microsoft.com/office/drawing/2014/main" id="{74B68FAF-F0A2-6E48-B54E-CCA149B61912}"/>
              </a:ext>
            </a:extLst>
          </p:cNvPr>
          <p:cNvSpPr>
            <a:spLocks noGrp="1"/>
          </p:cNvSpPr>
          <p:nvPr>
            <p:ph idx="1"/>
          </p:nvPr>
        </p:nvSpPr>
        <p:spPr>
          <a:xfrm>
            <a:off x="838199" y="2686323"/>
            <a:ext cx="4783697" cy="3433583"/>
          </a:xfrm>
        </p:spPr>
        <p:txBody>
          <a:bodyPr>
            <a:normAutofit fontScale="85000" lnSpcReduction="10000"/>
          </a:bodyPr>
          <a:lstStyle/>
          <a:p>
            <a:r>
              <a:rPr lang="en-US" sz="2000" dirty="0"/>
              <a:t>Cross validation is used to lower the bias of a model by training on a part of the data and validating on another. </a:t>
            </a:r>
            <a:endParaRPr lang="en-US" sz="2000" dirty="0">
              <a:effectLst/>
            </a:endParaRPr>
          </a:p>
          <a:p>
            <a:r>
              <a:rPr lang="en-US" sz="2000" dirty="0"/>
              <a:t>Time series data should not be randomly split, to avoid data leakage, otherwise we would simply be cheating by training with the future data. </a:t>
            </a:r>
            <a:endParaRPr lang="en-US" sz="2000" dirty="0">
              <a:effectLst/>
            </a:endParaRPr>
          </a:p>
          <a:p>
            <a:r>
              <a:rPr lang="en-US" sz="2000" dirty="0"/>
              <a:t>We used a five fold time series split for our cross validation scheme for these reasons.</a:t>
            </a:r>
          </a:p>
          <a:p>
            <a:r>
              <a:rPr lang="en-US" sz="2000" dirty="0"/>
              <a:t>We selected the last 4 days of June (2021-06-01 00:00 - 2021-06-04 23:00) as our test set and remaining data as our training set. </a:t>
            </a:r>
            <a:endParaRPr lang="en-US" sz="2000" dirty="0">
              <a:effectLst/>
            </a:endParaRPr>
          </a:p>
          <a:p>
            <a:endParaRPr lang="en-US" sz="2000" dirty="0">
              <a:effectLst/>
            </a:endParaRPr>
          </a:p>
          <a:p>
            <a:endParaRPr lang="en-TR" sz="2000" dirty="0"/>
          </a:p>
        </p:txBody>
      </p:sp>
      <p:pic>
        <p:nvPicPr>
          <p:cNvPr id="5" name="Picture 4" descr="Chart, bar chart&#10;&#10;Description automatically generated">
            <a:extLst>
              <a:ext uri="{FF2B5EF4-FFF2-40B4-BE49-F238E27FC236}">
                <a16:creationId xmlns:a16="http://schemas.microsoft.com/office/drawing/2014/main" id="{901C5834-DF9A-3A4C-AAC5-3133D860A9F7}"/>
              </a:ext>
            </a:extLst>
          </p:cNvPr>
          <p:cNvPicPr>
            <a:picLocks noChangeAspect="1"/>
          </p:cNvPicPr>
          <p:nvPr/>
        </p:nvPicPr>
        <p:blipFill>
          <a:blip r:embed="rId2"/>
          <a:stretch>
            <a:fillRect/>
          </a:stretch>
        </p:blipFill>
        <p:spPr>
          <a:xfrm>
            <a:off x="5880848" y="2480693"/>
            <a:ext cx="6158893" cy="3433582"/>
          </a:xfrm>
          <a:prstGeom prst="rect">
            <a:avLst/>
          </a:prstGeom>
        </p:spPr>
      </p:pic>
    </p:spTree>
    <p:extLst>
      <p:ext uri="{BB962C8B-B14F-4D97-AF65-F5344CB8AC3E}">
        <p14:creationId xmlns:p14="http://schemas.microsoft.com/office/powerpoint/2010/main" val="3130359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6387C-874D-2746-B6C7-760404B51C99}"/>
              </a:ext>
            </a:extLst>
          </p:cNvPr>
          <p:cNvSpPr>
            <a:spLocks noGrp="1"/>
          </p:cNvSpPr>
          <p:nvPr>
            <p:ph type="title"/>
          </p:nvPr>
        </p:nvSpPr>
        <p:spPr/>
        <p:txBody>
          <a:bodyPr/>
          <a:lstStyle/>
          <a:p>
            <a:r>
              <a:rPr lang="en-TR" sz="4000" dirty="0"/>
              <a:t>Modeling</a:t>
            </a:r>
            <a:br>
              <a:rPr lang="en-TR" dirty="0"/>
            </a:br>
            <a:r>
              <a:rPr lang="en-TR" sz="2600" dirty="0"/>
              <a:t>Hyperparameter Search</a:t>
            </a:r>
          </a:p>
        </p:txBody>
      </p:sp>
      <p:sp>
        <p:nvSpPr>
          <p:cNvPr id="3" name="Content Placeholder 2">
            <a:extLst>
              <a:ext uri="{FF2B5EF4-FFF2-40B4-BE49-F238E27FC236}">
                <a16:creationId xmlns:a16="http://schemas.microsoft.com/office/drawing/2014/main" id="{E078A478-3620-0949-81B3-F90C502FC440}"/>
              </a:ext>
            </a:extLst>
          </p:cNvPr>
          <p:cNvSpPr>
            <a:spLocks noGrp="1"/>
          </p:cNvSpPr>
          <p:nvPr>
            <p:ph idx="1"/>
          </p:nvPr>
        </p:nvSpPr>
        <p:spPr>
          <a:xfrm>
            <a:off x="677334" y="2160589"/>
            <a:ext cx="10289370" cy="3880773"/>
          </a:xfrm>
        </p:spPr>
        <p:txBody>
          <a:bodyPr>
            <a:normAutofit fontScale="62500" lnSpcReduction="20000"/>
          </a:bodyPr>
          <a:lstStyle/>
          <a:p>
            <a:pPr marL="0" indent="0">
              <a:buNone/>
            </a:pPr>
            <a:r>
              <a:rPr lang="en-TR" sz="3800" dirty="0"/>
              <a:t>We used Grid Search and Randomized Search to optimize our model parameters. The final parameters chosen:</a:t>
            </a:r>
          </a:p>
          <a:p>
            <a:pPr marL="0" indent="0">
              <a:buNone/>
            </a:pPr>
            <a:endParaRPr lang="en-TR" sz="3800" dirty="0"/>
          </a:p>
          <a:p>
            <a:r>
              <a:rPr lang="en-US" sz="2200" b="1" dirty="0"/>
              <a:t>Linear Regression </a:t>
            </a:r>
            <a:r>
              <a:rPr lang="en-US" dirty="0"/>
              <a:t>: {‘</a:t>
            </a:r>
            <a:r>
              <a:rPr lang="en-US" dirty="0" err="1"/>
              <a:t>fit_intercept</a:t>
            </a:r>
            <a:r>
              <a:rPr lang="en-US" dirty="0"/>
              <a:t>’: True} </a:t>
            </a:r>
            <a:endParaRPr lang="en-US" dirty="0">
              <a:effectLst/>
            </a:endParaRPr>
          </a:p>
          <a:p>
            <a:r>
              <a:rPr lang="en-US" sz="2200" b="1" dirty="0"/>
              <a:t>Lasso Regression </a:t>
            </a:r>
            <a:r>
              <a:rPr lang="en-US" dirty="0"/>
              <a:t>: {‘alpha’: 1} </a:t>
            </a:r>
            <a:endParaRPr lang="en-US" dirty="0">
              <a:effectLst/>
            </a:endParaRPr>
          </a:p>
          <a:p>
            <a:r>
              <a:rPr lang="en-US" sz="2200" b="1" dirty="0"/>
              <a:t>Ridge Regression </a:t>
            </a:r>
            <a:r>
              <a:rPr lang="en-US" dirty="0"/>
              <a:t>: {‘alpha’: 100} </a:t>
            </a:r>
            <a:endParaRPr lang="en-US" dirty="0">
              <a:effectLst/>
            </a:endParaRPr>
          </a:p>
          <a:p>
            <a:r>
              <a:rPr lang="en-US" sz="2200" b="1" dirty="0" err="1"/>
              <a:t>ElasticNet</a:t>
            </a:r>
            <a:r>
              <a:rPr lang="en-US" sz="2200" b="1" dirty="0"/>
              <a:t> Regression </a:t>
            </a:r>
            <a:r>
              <a:rPr lang="en-US" dirty="0"/>
              <a:t>: {‘alpha’: 1, ‘l1_ratio’: 1} </a:t>
            </a:r>
            <a:endParaRPr lang="en-US" dirty="0">
              <a:effectLst/>
            </a:endParaRPr>
          </a:p>
          <a:p>
            <a:r>
              <a:rPr lang="en-US" sz="2200" b="1" dirty="0"/>
              <a:t>Support Vector Regression </a:t>
            </a:r>
            <a:r>
              <a:rPr lang="en-US" dirty="0"/>
              <a:t>: {‘C’: 0.1, ‘</a:t>
            </a:r>
            <a:r>
              <a:rPr lang="en-US" dirty="0" err="1"/>
              <a:t>tol</a:t>
            </a:r>
            <a:r>
              <a:rPr lang="en-US" dirty="0"/>
              <a:t>’: 0.01, ‘</a:t>
            </a:r>
            <a:r>
              <a:rPr lang="en-US" dirty="0" err="1"/>
              <a:t>max_iter</a:t>
            </a:r>
            <a:r>
              <a:rPr lang="en-US" dirty="0"/>
              <a:t>’: 10000} </a:t>
            </a:r>
            <a:endParaRPr lang="en-US" dirty="0">
              <a:effectLst/>
            </a:endParaRPr>
          </a:p>
          <a:p>
            <a:r>
              <a:rPr lang="en-US" sz="2200" b="1" dirty="0" err="1"/>
              <a:t>RandomForest</a:t>
            </a:r>
            <a:r>
              <a:rPr lang="en-US" sz="2200" b="1" dirty="0"/>
              <a:t> Regression </a:t>
            </a:r>
            <a:r>
              <a:rPr lang="en-US" dirty="0"/>
              <a:t>: {‘</a:t>
            </a:r>
            <a:r>
              <a:rPr lang="en-US" dirty="0" err="1"/>
              <a:t>oob_score</a:t>
            </a:r>
            <a:r>
              <a:rPr lang="en-US" dirty="0"/>
              <a:t>’: False, ‘</a:t>
            </a:r>
            <a:r>
              <a:rPr lang="en-US" dirty="0" err="1"/>
              <a:t>n_estimators</a:t>
            </a:r>
            <a:r>
              <a:rPr lang="en-US" dirty="0"/>
              <a:t>’: 800, ‘</a:t>
            </a:r>
            <a:r>
              <a:rPr lang="en-US" dirty="0" err="1"/>
              <a:t>max_samples_leaf</a:t>
            </a:r>
            <a:r>
              <a:rPr lang="en-US" dirty="0"/>
              <a:t>’: 9, ‘</a:t>
            </a:r>
            <a:r>
              <a:rPr lang="en-US" dirty="0" err="1"/>
              <a:t>max_samples</a:t>
            </a:r>
            <a:r>
              <a:rPr lang="en-US" dirty="0"/>
              <a:t>’: 0.1, ‘</a:t>
            </a:r>
            <a:r>
              <a:rPr lang="en-US" dirty="0" err="1"/>
              <a:t>max_features</a:t>
            </a:r>
            <a:r>
              <a:rPr lang="en-US" dirty="0"/>
              <a:t>’: 0.75} </a:t>
            </a:r>
            <a:endParaRPr lang="en-US" dirty="0">
              <a:effectLst/>
            </a:endParaRPr>
          </a:p>
          <a:p>
            <a:r>
              <a:rPr lang="en-US" sz="2200" b="1" dirty="0" err="1"/>
              <a:t>GradientBoosting</a:t>
            </a:r>
            <a:r>
              <a:rPr lang="en-US" sz="2200" b="1" dirty="0"/>
              <a:t> Regression </a:t>
            </a:r>
            <a:r>
              <a:rPr lang="en-US" dirty="0"/>
              <a:t>: {‘</a:t>
            </a:r>
            <a:r>
              <a:rPr lang="en-US" dirty="0" err="1"/>
              <a:t>n_estimators</a:t>
            </a:r>
            <a:r>
              <a:rPr lang="en-US" dirty="0"/>
              <a:t>’: 600, ‘</a:t>
            </a:r>
            <a:r>
              <a:rPr lang="en-US" dirty="0" err="1"/>
              <a:t>max_depth</a:t>
            </a:r>
            <a:r>
              <a:rPr lang="en-US" dirty="0"/>
              <a:t>’ : 1, ‘</a:t>
            </a:r>
            <a:r>
              <a:rPr lang="en-US" dirty="0" err="1"/>
              <a:t>learning_rate</a:t>
            </a:r>
            <a:r>
              <a:rPr lang="en-US" dirty="0"/>
              <a:t>’: 0.01} </a:t>
            </a:r>
            <a:endParaRPr lang="en-US" dirty="0">
              <a:effectLst/>
            </a:endParaRPr>
          </a:p>
          <a:p>
            <a:r>
              <a:rPr lang="en-US" sz="2200" b="1" dirty="0" err="1"/>
              <a:t>CatBoost</a:t>
            </a:r>
            <a:r>
              <a:rPr lang="en-US" sz="2200" b="1" dirty="0"/>
              <a:t> Regression</a:t>
            </a:r>
            <a:r>
              <a:rPr lang="en-US" dirty="0"/>
              <a:t>: {‘depth’: 8, ‘l2_leaf_reg’ : 5, ‘</a:t>
            </a:r>
            <a:r>
              <a:rPr lang="en-US" dirty="0" err="1"/>
              <a:t>learning_rate</a:t>
            </a:r>
            <a:r>
              <a:rPr lang="en-US" dirty="0"/>
              <a:t>’: 0.01} </a:t>
            </a:r>
            <a:endParaRPr lang="en-US" dirty="0">
              <a:effectLst/>
            </a:endParaRPr>
          </a:p>
          <a:p>
            <a:r>
              <a:rPr lang="en-US" sz="2200" b="1" dirty="0" err="1"/>
              <a:t>LightGBM</a:t>
            </a:r>
            <a:r>
              <a:rPr lang="en-US" sz="2200" b="1" dirty="0"/>
              <a:t> Regression</a:t>
            </a:r>
            <a:r>
              <a:rPr lang="en-US" dirty="0"/>
              <a:t>:{‘</a:t>
            </a:r>
            <a:r>
              <a:rPr lang="en-US" dirty="0" err="1"/>
              <a:t>n_estimators</a:t>
            </a:r>
            <a:r>
              <a:rPr lang="en-US" dirty="0"/>
              <a:t>’: 400, ‘</a:t>
            </a:r>
            <a:r>
              <a:rPr lang="en-US" dirty="0" err="1"/>
              <a:t>num_leaves</a:t>
            </a:r>
            <a:r>
              <a:rPr lang="en-US" dirty="0"/>
              <a:t>’: 8, ‘</a:t>
            </a:r>
            <a:r>
              <a:rPr lang="en-US" dirty="0" err="1"/>
              <a:t>max_depth</a:t>
            </a:r>
            <a:r>
              <a:rPr lang="en-US" dirty="0"/>
              <a:t>’: 7,’learning_rate’ : 0.01} </a:t>
            </a:r>
            <a:endParaRPr lang="en-US" dirty="0">
              <a:effectLst/>
            </a:endParaRPr>
          </a:p>
          <a:p>
            <a:endParaRPr lang="en-TR" dirty="0"/>
          </a:p>
        </p:txBody>
      </p:sp>
      <p:sp>
        <p:nvSpPr>
          <p:cNvPr id="4" name="TextBox 3">
            <a:extLst>
              <a:ext uri="{FF2B5EF4-FFF2-40B4-BE49-F238E27FC236}">
                <a16:creationId xmlns:a16="http://schemas.microsoft.com/office/drawing/2014/main" id="{F8814E41-9A7B-FA46-9171-5AAEBAC29809}"/>
              </a:ext>
            </a:extLst>
          </p:cNvPr>
          <p:cNvSpPr txBox="1"/>
          <p:nvPr/>
        </p:nvSpPr>
        <p:spPr>
          <a:xfrm>
            <a:off x="996696" y="6248400"/>
            <a:ext cx="7370064" cy="553998"/>
          </a:xfrm>
          <a:prstGeom prst="rect">
            <a:avLst/>
          </a:prstGeom>
          <a:noFill/>
        </p:spPr>
        <p:txBody>
          <a:bodyPr wrap="square" rtlCol="0">
            <a:spAutoFit/>
          </a:bodyPr>
          <a:lstStyle/>
          <a:p>
            <a:r>
              <a:rPr lang="en-US" sz="1200" dirty="0"/>
              <a:t>*Default values were used for not mentioned parameters </a:t>
            </a:r>
            <a:endParaRPr lang="en-US" sz="1200" dirty="0">
              <a:effectLst/>
            </a:endParaRPr>
          </a:p>
          <a:p>
            <a:endParaRPr lang="en-TR" dirty="0"/>
          </a:p>
        </p:txBody>
      </p:sp>
    </p:spTree>
    <p:extLst>
      <p:ext uri="{BB962C8B-B14F-4D97-AF65-F5344CB8AC3E}">
        <p14:creationId xmlns:p14="http://schemas.microsoft.com/office/powerpoint/2010/main" val="2344723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BF0F-7599-2F4C-8CF3-2DFA41840FAE}"/>
              </a:ext>
            </a:extLst>
          </p:cNvPr>
          <p:cNvSpPr>
            <a:spLocks noGrp="1"/>
          </p:cNvSpPr>
          <p:nvPr>
            <p:ph type="title"/>
          </p:nvPr>
        </p:nvSpPr>
        <p:spPr>
          <a:xfrm>
            <a:off x="838199" y="537883"/>
            <a:ext cx="4783697" cy="1942810"/>
          </a:xfrm>
        </p:spPr>
        <p:txBody>
          <a:bodyPr anchor="b">
            <a:normAutofit/>
          </a:bodyPr>
          <a:lstStyle/>
          <a:p>
            <a:r>
              <a:rPr lang="en-TR" sz="4000" dirty="0"/>
              <a:t>Models</a:t>
            </a:r>
            <a:br>
              <a:rPr lang="en-TR" sz="4000" dirty="0"/>
            </a:br>
            <a:r>
              <a:rPr lang="en-TR" sz="2600" dirty="0"/>
              <a:t>Prophet Time Series Analysis</a:t>
            </a:r>
          </a:p>
        </p:txBody>
      </p:sp>
      <p:sp>
        <p:nvSpPr>
          <p:cNvPr id="3" name="Content Placeholder 2">
            <a:extLst>
              <a:ext uri="{FF2B5EF4-FFF2-40B4-BE49-F238E27FC236}">
                <a16:creationId xmlns:a16="http://schemas.microsoft.com/office/drawing/2014/main" id="{24AAE405-73A6-4545-8314-FDEF80684392}"/>
              </a:ext>
            </a:extLst>
          </p:cNvPr>
          <p:cNvSpPr>
            <a:spLocks noGrp="1"/>
          </p:cNvSpPr>
          <p:nvPr>
            <p:ph idx="1"/>
          </p:nvPr>
        </p:nvSpPr>
        <p:spPr>
          <a:xfrm>
            <a:off x="838199" y="2686323"/>
            <a:ext cx="4783697" cy="3433583"/>
          </a:xfrm>
        </p:spPr>
        <p:txBody>
          <a:bodyPr>
            <a:normAutofit/>
          </a:bodyPr>
          <a:lstStyle/>
          <a:p>
            <a:r>
              <a:rPr lang="en-US" sz="2000"/>
              <a:t>We conducted a time series analysis and prediction using FB Prophet.</a:t>
            </a:r>
          </a:p>
          <a:p>
            <a:r>
              <a:rPr lang="en-US" sz="2000"/>
              <a:t>You can see decomposition of seasonal elements on the right. </a:t>
            </a:r>
          </a:p>
          <a:p>
            <a:r>
              <a:rPr lang="en-US" sz="2000"/>
              <a:t>We didn’t prefer to use this model as it’s pretty much a black-box model and because we have less than 1.5 years of data, which is not enough to capture seasonality. </a:t>
            </a:r>
            <a:endParaRPr lang="en-US" sz="2000">
              <a:effectLst/>
            </a:endParaRPr>
          </a:p>
          <a:p>
            <a:endParaRPr lang="en-TR" sz="2000"/>
          </a:p>
        </p:txBody>
      </p:sp>
      <p:pic>
        <p:nvPicPr>
          <p:cNvPr id="2050" name="Picture 2">
            <a:extLst>
              <a:ext uri="{FF2B5EF4-FFF2-40B4-BE49-F238E27FC236}">
                <a16:creationId xmlns:a16="http://schemas.microsoft.com/office/drawing/2014/main" id="{2A2929A0-95D3-834F-88FD-8F6149E0F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0302" y="754532"/>
            <a:ext cx="5365374" cy="536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599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317C-44F3-D848-BBB0-BB0A740129B0}"/>
              </a:ext>
            </a:extLst>
          </p:cNvPr>
          <p:cNvSpPr>
            <a:spLocks noGrp="1"/>
          </p:cNvSpPr>
          <p:nvPr>
            <p:ph type="title"/>
          </p:nvPr>
        </p:nvSpPr>
        <p:spPr/>
        <p:txBody>
          <a:bodyPr/>
          <a:lstStyle/>
          <a:p>
            <a:r>
              <a:rPr lang="en-TR" sz="4000" dirty="0"/>
              <a:t>Evaluation</a:t>
            </a:r>
            <a:br>
              <a:rPr lang="en-TR" dirty="0"/>
            </a:br>
            <a:r>
              <a:rPr lang="en-TR" sz="2600" dirty="0"/>
              <a:t>Metrics</a:t>
            </a:r>
          </a:p>
        </p:txBody>
      </p:sp>
      <p:sp>
        <p:nvSpPr>
          <p:cNvPr id="3" name="Content Placeholder 2">
            <a:extLst>
              <a:ext uri="{FF2B5EF4-FFF2-40B4-BE49-F238E27FC236}">
                <a16:creationId xmlns:a16="http://schemas.microsoft.com/office/drawing/2014/main" id="{AB60641E-91ED-3843-A3C3-94C0A727B4E4}"/>
              </a:ext>
            </a:extLst>
          </p:cNvPr>
          <p:cNvSpPr>
            <a:spLocks noGrp="1"/>
          </p:cNvSpPr>
          <p:nvPr>
            <p:ph idx="1"/>
          </p:nvPr>
        </p:nvSpPr>
        <p:spPr/>
        <p:txBody>
          <a:bodyPr/>
          <a:lstStyle/>
          <a:p>
            <a:r>
              <a:rPr lang="en-US" dirty="0"/>
              <a:t>We evaluated our models according to three different metrics: </a:t>
            </a:r>
          </a:p>
          <a:p>
            <a:pPr lvl="1"/>
            <a:r>
              <a:rPr lang="en-US" dirty="0"/>
              <a:t>Mean Absolute Error </a:t>
            </a:r>
          </a:p>
          <a:p>
            <a:pPr lvl="1"/>
            <a:r>
              <a:rPr lang="en-US" dirty="0"/>
              <a:t>Root Mean Squared Error </a:t>
            </a:r>
          </a:p>
          <a:p>
            <a:pPr lvl="1"/>
            <a:r>
              <a:rPr lang="en-US" dirty="0"/>
              <a:t>R2 Score</a:t>
            </a:r>
            <a:endParaRPr lang="en-US" dirty="0">
              <a:effectLst/>
            </a:endParaRPr>
          </a:p>
          <a:p>
            <a:r>
              <a:rPr lang="en-US" dirty="0"/>
              <a:t>The final selection was based on mean absolute error. We understand that mean absolute error is the most important metric as it directly represents the imbalance cost that will be reflected on us. </a:t>
            </a:r>
            <a:endParaRPr lang="en-US" dirty="0">
              <a:effectLst/>
            </a:endParaRPr>
          </a:p>
          <a:p>
            <a:endParaRPr lang="en-TR" dirty="0"/>
          </a:p>
        </p:txBody>
      </p:sp>
    </p:spTree>
    <p:extLst>
      <p:ext uri="{BB962C8B-B14F-4D97-AF65-F5344CB8AC3E}">
        <p14:creationId xmlns:p14="http://schemas.microsoft.com/office/powerpoint/2010/main" val="1883091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79B0-0012-0446-AE58-D78384491A26}"/>
              </a:ext>
            </a:extLst>
          </p:cNvPr>
          <p:cNvSpPr>
            <a:spLocks noGrp="1"/>
          </p:cNvSpPr>
          <p:nvPr>
            <p:ph type="title"/>
          </p:nvPr>
        </p:nvSpPr>
        <p:spPr>
          <a:xfrm>
            <a:off x="838199" y="537883"/>
            <a:ext cx="4783697" cy="1942810"/>
          </a:xfrm>
        </p:spPr>
        <p:txBody>
          <a:bodyPr vert="horz" lIns="91440" tIns="45720" rIns="91440" bIns="45720" rtlCol="0" anchor="b">
            <a:normAutofit/>
          </a:bodyPr>
          <a:lstStyle/>
          <a:p>
            <a:r>
              <a:rPr lang="en-US" sz="4000" kern="1200" dirty="0">
                <a:latin typeface="+mj-lt"/>
                <a:ea typeface="+mj-ea"/>
                <a:cs typeface="+mj-cs"/>
              </a:rPr>
              <a:t>Evaluation</a:t>
            </a:r>
            <a:br>
              <a:rPr lang="en-US" sz="4000" kern="1200" dirty="0">
                <a:latin typeface="+mj-lt"/>
                <a:ea typeface="+mj-ea"/>
                <a:cs typeface="+mj-cs"/>
              </a:rPr>
            </a:br>
            <a:r>
              <a:rPr lang="en-US" sz="2600" kern="1200" dirty="0">
                <a:latin typeface="+mj-lt"/>
                <a:ea typeface="+mj-ea"/>
                <a:cs typeface="+mj-cs"/>
              </a:rPr>
              <a:t>Results</a:t>
            </a:r>
          </a:p>
        </p:txBody>
      </p:sp>
      <p:sp>
        <p:nvSpPr>
          <p:cNvPr id="18" name="Content Placeholder 17">
            <a:extLst>
              <a:ext uri="{FF2B5EF4-FFF2-40B4-BE49-F238E27FC236}">
                <a16:creationId xmlns:a16="http://schemas.microsoft.com/office/drawing/2014/main" id="{946C832D-3CB5-46EC-88F8-513121DE1CDF}"/>
              </a:ext>
            </a:extLst>
          </p:cNvPr>
          <p:cNvSpPr>
            <a:spLocks noGrp="1"/>
          </p:cNvSpPr>
          <p:nvPr>
            <p:ph idx="1"/>
          </p:nvPr>
        </p:nvSpPr>
        <p:spPr>
          <a:xfrm>
            <a:off x="838199" y="2686323"/>
            <a:ext cx="4783697" cy="3433583"/>
          </a:xfrm>
        </p:spPr>
        <p:txBody>
          <a:bodyPr>
            <a:normAutofit/>
          </a:bodyPr>
          <a:lstStyle/>
          <a:p>
            <a:r>
              <a:rPr lang="en-US" sz="2000" dirty="0"/>
              <a:t>These are the results of the last 4 days of June (our test set). </a:t>
            </a:r>
          </a:p>
          <a:p>
            <a:r>
              <a:rPr lang="en-US" sz="2000" dirty="0"/>
              <a:t>We can see the Provider 3 is the best one among the three, which means their service is the most valuable for our business.</a:t>
            </a:r>
          </a:p>
          <a:p>
            <a:r>
              <a:rPr lang="en-US" sz="2000" dirty="0"/>
              <a:t>The best model is found to be Ridge Regression with a regularization parameter of 100.</a:t>
            </a:r>
          </a:p>
        </p:txBody>
      </p:sp>
      <p:graphicFrame>
        <p:nvGraphicFramePr>
          <p:cNvPr id="16" name="Content Placeholder 7">
            <a:extLst>
              <a:ext uri="{FF2B5EF4-FFF2-40B4-BE49-F238E27FC236}">
                <a16:creationId xmlns:a16="http://schemas.microsoft.com/office/drawing/2014/main" id="{2330AF53-D44F-9C4F-825D-178874FDBC13}"/>
              </a:ext>
            </a:extLst>
          </p:cNvPr>
          <p:cNvGraphicFramePr>
            <a:graphicFrameLocks/>
          </p:cNvGraphicFramePr>
          <p:nvPr>
            <p:extLst>
              <p:ext uri="{D42A27DB-BD31-4B8C-83A1-F6EECF244321}">
                <p14:modId xmlns:p14="http://schemas.microsoft.com/office/powerpoint/2010/main" val="3160085112"/>
              </p:ext>
            </p:extLst>
          </p:nvPr>
        </p:nvGraphicFramePr>
        <p:xfrm>
          <a:off x="5988424" y="872916"/>
          <a:ext cx="5825624" cy="5158188"/>
        </p:xfrm>
        <a:graphic>
          <a:graphicData uri="http://schemas.openxmlformats.org/drawingml/2006/table">
            <a:tbl>
              <a:tblPr firstRow="1" bandRow="1"/>
              <a:tblGrid>
                <a:gridCol w="1674248">
                  <a:extLst>
                    <a:ext uri="{9D8B030D-6E8A-4147-A177-3AD203B41FA5}">
                      <a16:colId xmlns:a16="http://schemas.microsoft.com/office/drawing/2014/main" val="2632274744"/>
                    </a:ext>
                  </a:extLst>
                </a:gridCol>
                <a:gridCol w="1591056">
                  <a:extLst>
                    <a:ext uri="{9D8B030D-6E8A-4147-A177-3AD203B41FA5}">
                      <a16:colId xmlns:a16="http://schemas.microsoft.com/office/drawing/2014/main" val="3754315621"/>
                    </a:ext>
                  </a:extLst>
                </a:gridCol>
                <a:gridCol w="1682496">
                  <a:extLst>
                    <a:ext uri="{9D8B030D-6E8A-4147-A177-3AD203B41FA5}">
                      <a16:colId xmlns:a16="http://schemas.microsoft.com/office/drawing/2014/main" val="845421873"/>
                    </a:ext>
                  </a:extLst>
                </a:gridCol>
                <a:gridCol w="877824">
                  <a:extLst>
                    <a:ext uri="{9D8B030D-6E8A-4147-A177-3AD203B41FA5}">
                      <a16:colId xmlns:a16="http://schemas.microsoft.com/office/drawing/2014/main" val="2825117360"/>
                    </a:ext>
                  </a:extLst>
                </a:gridCol>
              </a:tblGrid>
              <a:tr h="583101">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 </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spcBef>
                          <a:spcPts val="0"/>
                        </a:spcBef>
                        <a:spcAft>
                          <a:spcPts val="0"/>
                        </a:spcAft>
                      </a:pPr>
                      <a:r>
                        <a:rPr lang="en-US" sz="1800" b="1" i="0" u="none" strike="noStrike">
                          <a:solidFill>
                            <a:srgbClr val="FFFFFF"/>
                          </a:solidFill>
                          <a:effectLst/>
                          <a:latin typeface="Calibri" panose="020F0502020204030204" pitchFamily="34" charset="0"/>
                        </a:rPr>
                        <a:t>Mean Absolute Error</a:t>
                      </a:r>
                      <a:endParaRPr lang="en-US" sz="2600" b="0" i="0" u="none" strike="noStrike">
                        <a:effectLst/>
                        <a:latin typeface="Arial" panose="020B0604020202020204" pitchFamily="34" charset="0"/>
                      </a:endParaRPr>
                    </a:p>
                  </a:txBody>
                  <a:tcPr marL="13851" marR="13851" marT="138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spcBef>
                          <a:spcPts val="0"/>
                        </a:spcBef>
                        <a:spcAft>
                          <a:spcPts val="0"/>
                        </a:spcAft>
                      </a:pPr>
                      <a:r>
                        <a:rPr lang="en-US" sz="1800" b="1" i="0" u="none" strike="noStrike">
                          <a:solidFill>
                            <a:srgbClr val="FFFFFF"/>
                          </a:solidFill>
                          <a:effectLst/>
                          <a:latin typeface="Calibri" panose="020F0502020204030204" pitchFamily="34" charset="0"/>
                        </a:rPr>
                        <a:t>Root Mean Squared Error</a:t>
                      </a:r>
                      <a:endParaRPr lang="en-US" sz="2600" b="0" i="0" u="none" strike="noStrike">
                        <a:effectLst/>
                        <a:latin typeface="Arial" panose="020B0604020202020204" pitchFamily="34" charset="0"/>
                      </a:endParaRPr>
                    </a:p>
                  </a:txBody>
                  <a:tcPr marL="13851" marR="13851" marT="138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spcBef>
                          <a:spcPts val="0"/>
                        </a:spcBef>
                        <a:spcAft>
                          <a:spcPts val="0"/>
                        </a:spcAft>
                      </a:pPr>
                      <a:r>
                        <a:rPr lang="en-US" sz="1800" b="1" i="0" u="none" strike="noStrike">
                          <a:solidFill>
                            <a:srgbClr val="FFFFFF"/>
                          </a:solidFill>
                          <a:effectLst/>
                          <a:latin typeface="Calibri" panose="020F0502020204030204" pitchFamily="34" charset="0"/>
                        </a:rPr>
                        <a:t>R2</a:t>
                      </a:r>
                      <a:endParaRPr lang="en-US" sz="2600" b="0" i="0" u="none" strike="noStrike">
                        <a:effectLst/>
                        <a:latin typeface="Arial" panose="020B0604020202020204" pitchFamily="34" charset="0"/>
                      </a:endParaRPr>
                    </a:p>
                  </a:txBody>
                  <a:tcPr marL="13851" marR="13851" marT="138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1426585082"/>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Provider1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6.40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E82"/>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10.09</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B97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07B"/>
                    </a:solidFill>
                  </a:tcPr>
                </a:tc>
                <a:extLst>
                  <a:ext uri="{0D108BD9-81ED-4DB2-BD59-A6C34878D82A}">
                    <a16:rowId xmlns:a16="http://schemas.microsoft.com/office/drawing/2014/main" val="1927010713"/>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Provider2</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6.56</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A81"/>
                    </a:solidFill>
                  </a:tcPr>
                </a:tc>
                <a:tc>
                  <a:txBody>
                    <a:bodyPr/>
                    <a:lstStyle/>
                    <a:p>
                      <a:pPr algn="r" fontAlgn="b">
                        <a:spcBef>
                          <a:spcPts val="0"/>
                        </a:spcBef>
                        <a:spcAft>
                          <a:spcPts val="0"/>
                        </a:spcAft>
                      </a:pPr>
                      <a:r>
                        <a:rPr lang="en-US" sz="1800" b="0" i="0" u="none" strike="noStrike" dirty="0">
                          <a:solidFill>
                            <a:srgbClr val="000000"/>
                          </a:solidFill>
                          <a:effectLst/>
                          <a:latin typeface="Calibri" panose="020F0502020204030204" pitchFamily="34" charset="0"/>
                        </a:rPr>
                        <a:t>8.60</a:t>
                      </a:r>
                      <a:endParaRPr lang="en-US" sz="2600" b="0" i="0" u="none" strike="noStrike" dirty="0">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D82"/>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29%</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extLst>
                  <a:ext uri="{0D108BD9-81ED-4DB2-BD59-A6C34878D82A}">
                    <a16:rowId xmlns:a16="http://schemas.microsoft.com/office/drawing/2014/main" val="308401406"/>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Provider3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dirty="0">
                          <a:solidFill>
                            <a:srgbClr val="000000"/>
                          </a:solidFill>
                          <a:effectLst/>
                          <a:latin typeface="Calibri" panose="020F0502020204030204" pitchFamily="34" charset="0"/>
                        </a:rPr>
                        <a:t>5.71</a:t>
                      </a:r>
                      <a:endParaRPr lang="en-US" sz="2600" b="0" i="0" u="none" strike="noStrike" dirty="0">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983"/>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8.03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38%</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extLst>
                  <a:ext uri="{0D108BD9-81ED-4DB2-BD59-A6C34878D82A}">
                    <a16:rowId xmlns:a16="http://schemas.microsoft.com/office/drawing/2014/main" val="514246826"/>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Linear Regression</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5.50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CD7E"/>
                    </a:solidFill>
                  </a:tcPr>
                </a:tc>
                <a:tc>
                  <a:txBody>
                    <a:bodyPr/>
                    <a:lstStyle/>
                    <a:p>
                      <a:pPr algn="r" fontAlgn="b">
                        <a:spcBef>
                          <a:spcPts val="0"/>
                        </a:spcBef>
                        <a:spcAft>
                          <a:spcPts val="0"/>
                        </a:spcAft>
                      </a:pPr>
                      <a:r>
                        <a:rPr lang="en-US" sz="1800" b="0" i="0" u="none" strike="noStrike" dirty="0">
                          <a:solidFill>
                            <a:srgbClr val="000000"/>
                          </a:solidFill>
                          <a:effectLst/>
                          <a:latin typeface="Calibri" panose="020F0502020204030204" pitchFamily="34" charset="0"/>
                        </a:rPr>
                        <a:t>7.73</a:t>
                      </a:r>
                      <a:endParaRPr lang="en-US" sz="2600" b="0" i="0" u="none" strike="noStrike" dirty="0">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43%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275931342"/>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Lasso Regression</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5.68</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582"/>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7.91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D980"/>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40%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A81"/>
                    </a:solidFill>
                  </a:tcPr>
                </a:tc>
                <a:extLst>
                  <a:ext uri="{0D108BD9-81ED-4DB2-BD59-A6C34878D82A}">
                    <a16:rowId xmlns:a16="http://schemas.microsoft.com/office/drawing/2014/main" val="1830659893"/>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Ridge Regression</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5.38</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7.75</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DC17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43%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C27C"/>
                    </a:solidFill>
                  </a:tcPr>
                </a:tc>
                <a:extLst>
                  <a:ext uri="{0D108BD9-81ED-4DB2-BD59-A6C34878D82A}">
                    <a16:rowId xmlns:a16="http://schemas.microsoft.com/office/drawing/2014/main" val="198617166"/>
                  </a:ext>
                </a:extLst>
              </a:tr>
              <a:tr h="583101">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ElasticNet Regresion</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5.68</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582"/>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7.91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D980"/>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4%</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extLst>
                  <a:ext uri="{0D108BD9-81ED-4DB2-BD59-A6C34878D82A}">
                    <a16:rowId xmlns:a16="http://schemas.microsoft.com/office/drawing/2014/main" val="336842696"/>
                  </a:ext>
                </a:extLst>
              </a:tr>
              <a:tr h="583101">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Support Vector Regression</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12.14</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13.31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-70%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1395848875"/>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Random Forest</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5.73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8.03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38%</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extLst>
                  <a:ext uri="{0D108BD9-81ED-4DB2-BD59-A6C34878D82A}">
                    <a16:rowId xmlns:a16="http://schemas.microsoft.com/office/drawing/2014/main" val="3057206446"/>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Gradient Boost</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5.83</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98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7.97</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382"/>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39%</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extLst>
                  <a:ext uri="{0D108BD9-81ED-4DB2-BD59-A6C34878D82A}">
                    <a16:rowId xmlns:a16="http://schemas.microsoft.com/office/drawing/2014/main" val="3901408872"/>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CatBoost</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5.61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C81"/>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8.01</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983"/>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39%</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E984"/>
                    </a:solidFill>
                  </a:tcPr>
                </a:tc>
                <a:extLst>
                  <a:ext uri="{0D108BD9-81ED-4DB2-BD59-A6C34878D82A}">
                    <a16:rowId xmlns:a16="http://schemas.microsoft.com/office/drawing/2014/main" val="243972756"/>
                  </a:ext>
                </a:extLst>
              </a:tr>
              <a:tr h="316266">
                <a:tc>
                  <a:txBody>
                    <a:bodyPr/>
                    <a:lstStyle/>
                    <a:p>
                      <a:pPr algn="l" fontAlgn="b">
                        <a:spcBef>
                          <a:spcPts val="0"/>
                        </a:spcBef>
                        <a:spcAft>
                          <a:spcPts val="0"/>
                        </a:spcAft>
                      </a:pPr>
                      <a:r>
                        <a:rPr lang="en-US" sz="1800" b="1" i="0" u="none" strike="noStrike">
                          <a:solidFill>
                            <a:srgbClr val="FFFFFF"/>
                          </a:solidFill>
                          <a:effectLst/>
                          <a:latin typeface="Calibri" panose="020F0502020204030204" pitchFamily="34" charset="0"/>
                        </a:rPr>
                        <a:t>LGBM</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5.80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A84"/>
                    </a:solidFill>
                  </a:tcPr>
                </a:tc>
                <a:tc>
                  <a:txBody>
                    <a:bodyPr/>
                    <a:lstStyle/>
                    <a:p>
                      <a:pPr algn="r" fontAlgn="b">
                        <a:spcBef>
                          <a:spcPts val="0"/>
                        </a:spcBef>
                        <a:spcAft>
                          <a:spcPts val="0"/>
                        </a:spcAft>
                      </a:pPr>
                      <a:r>
                        <a:rPr lang="en-US" sz="1800" b="0" i="0" u="none" strike="noStrike">
                          <a:solidFill>
                            <a:srgbClr val="000000"/>
                          </a:solidFill>
                          <a:effectLst/>
                          <a:latin typeface="Calibri" panose="020F0502020204030204" pitchFamily="34" charset="0"/>
                        </a:rPr>
                        <a:t>8.10</a:t>
                      </a:r>
                      <a:endParaRPr lang="en-US" sz="2600" b="0" i="0" u="none" strike="noStrike">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A84"/>
                    </a:solidFill>
                  </a:tcPr>
                </a:tc>
                <a:tc>
                  <a:txBody>
                    <a:bodyPr/>
                    <a:lstStyle/>
                    <a:p>
                      <a:pPr algn="r" fontAlgn="b">
                        <a:spcBef>
                          <a:spcPts val="0"/>
                        </a:spcBef>
                        <a:spcAft>
                          <a:spcPts val="0"/>
                        </a:spcAft>
                      </a:pPr>
                      <a:r>
                        <a:rPr lang="en-US" sz="1800" b="0" i="0" u="none" strike="noStrike" dirty="0">
                          <a:solidFill>
                            <a:srgbClr val="000000"/>
                          </a:solidFill>
                          <a:effectLst/>
                          <a:latin typeface="Calibri" panose="020F0502020204030204" pitchFamily="34" charset="0"/>
                        </a:rPr>
                        <a:t>37%</a:t>
                      </a:r>
                      <a:endParaRPr lang="en-US" sz="2600" b="0" i="0" u="none" strike="noStrike" dirty="0">
                        <a:effectLst/>
                        <a:latin typeface="Arial" panose="020B0604020202020204" pitchFamily="34" charset="0"/>
                      </a:endParaRPr>
                    </a:p>
                  </a:txBody>
                  <a:tcPr marL="13851" marR="13851" marT="138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extLst>
                  <a:ext uri="{0D108BD9-81ED-4DB2-BD59-A6C34878D82A}">
                    <a16:rowId xmlns:a16="http://schemas.microsoft.com/office/drawing/2014/main" val="3235660966"/>
                  </a:ext>
                </a:extLst>
              </a:tr>
            </a:tbl>
          </a:graphicData>
        </a:graphic>
      </p:graphicFrame>
    </p:spTree>
    <p:extLst>
      <p:ext uri="{BB962C8B-B14F-4D97-AF65-F5344CB8AC3E}">
        <p14:creationId xmlns:p14="http://schemas.microsoft.com/office/powerpoint/2010/main" val="965908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B3FB-C132-4347-BF06-07A6CFC10710}"/>
              </a:ext>
            </a:extLst>
          </p:cNvPr>
          <p:cNvSpPr>
            <a:spLocks noGrp="1"/>
          </p:cNvSpPr>
          <p:nvPr>
            <p:ph type="title"/>
          </p:nvPr>
        </p:nvSpPr>
        <p:spPr>
          <a:xfrm>
            <a:off x="838199" y="537883"/>
            <a:ext cx="4783697" cy="1942810"/>
          </a:xfrm>
        </p:spPr>
        <p:txBody>
          <a:bodyPr anchor="b">
            <a:normAutofit/>
          </a:bodyPr>
          <a:lstStyle/>
          <a:p>
            <a:r>
              <a:rPr lang="en-TR" sz="4000" dirty="0"/>
              <a:t>Evaluation</a:t>
            </a:r>
            <a:br>
              <a:rPr lang="en-TR" sz="4000" dirty="0"/>
            </a:br>
            <a:r>
              <a:rPr lang="en-TR" sz="2600" dirty="0"/>
              <a:t>Our Final Prediction</a:t>
            </a:r>
          </a:p>
        </p:txBody>
      </p:sp>
      <p:sp>
        <p:nvSpPr>
          <p:cNvPr id="9" name="Content Placeholder 8">
            <a:extLst>
              <a:ext uri="{FF2B5EF4-FFF2-40B4-BE49-F238E27FC236}">
                <a16:creationId xmlns:a16="http://schemas.microsoft.com/office/drawing/2014/main" id="{A1752D18-EDDF-4D45-A656-F23D6E767F46}"/>
              </a:ext>
            </a:extLst>
          </p:cNvPr>
          <p:cNvSpPr>
            <a:spLocks noGrp="1"/>
          </p:cNvSpPr>
          <p:nvPr>
            <p:ph idx="1"/>
          </p:nvPr>
        </p:nvSpPr>
        <p:spPr>
          <a:xfrm>
            <a:off x="838199" y="2686323"/>
            <a:ext cx="4783697" cy="3433583"/>
          </a:xfrm>
        </p:spPr>
        <p:txBody>
          <a:bodyPr>
            <a:normAutofit/>
          </a:bodyPr>
          <a:lstStyle/>
          <a:p>
            <a:r>
              <a:rPr lang="en-US" sz="2000" dirty="0"/>
              <a:t>You can see our final prediction for the 5</a:t>
            </a:r>
            <a:r>
              <a:rPr lang="en-US" sz="2000" baseline="30000" dirty="0"/>
              <a:t>th</a:t>
            </a:r>
            <a:r>
              <a:rPr lang="en-US" sz="2000" dirty="0"/>
              <a:t> of June on the right.</a:t>
            </a:r>
          </a:p>
          <a:p>
            <a:r>
              <a:rPr lang="en-US" sz="2000" dirty="0"/>
              <a:t>Our model’s output was negative for the hours 8 and 9, so we used postprocessing to make the negative forecasts 0.</a:t>
            </a:r>
          </a:p>
        </p:txBody>
      </p:sp>
      <p:pic>
        <p:nvPicPr>
          <p:cNvPr id="3074" name="Picture 2">
            <a:extLst>
              <a:ext uri="{FF2B5EF4-FFF2-40B4-BE49-F238E27FC236}">
                <a16:creationId xmlns:a16="http://schemas.microsoft.com/office/drawing/2014/main" id="{13D69A7B-697D-064B-9BC1-3FD4F8FAE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4087" y="289112"/>
            <a:ext cx="2490441" cy="5830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033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8ED8-A6E8-C743-9E3A-899527641F71}"/>
              </a:ext>
            </a:extLst>
          </p:cNvPr>
          <p:cNvSpPr>
            <a:spLocks noGrp="1"/>
          </p:cNvSpPr>
          <p:nvPr>
            <p:ph type="title"/>
          </p:nvPr>
        </p:nvSpPr>
        <p:spPr/>
        <p:txBody>
          <a:bodyPr/>
          <a:lstStyle/>
          <a:p>
            <a:endParaRPr lang="en-TR" dirty="0"/>
          </a:p>
        </p:txBody>
      </p:sp>
      <p:sp>
        <p:nvSpPr>
          <p:cNvPr id="3" name="Content Placeholder 2">
            <a:extLst>
              <a:ext uri="{FF2B5EF4-FFF2-40B4-BE49-F238E27FC236}">
                <a16:creationId xmlns:a16="http://schemas.microsoft.com/office/drawing/2014/main" id="{0CE082E9-693D-D442-B0FC-C6EEBE5AF37D}"/>
              </a:ext>
            </a:extLst>
          </p:cNvPr>
          <p:cNvSpPr>
            <a:spLocks noGrp="1"/>
          </p:cNvSpPr>
          <p:nvPr>
            <p:ph idx="1"/>
          </p:nvPr>
        </p:nvSpPr>
        <p:spPr/>
        <p:txBody>
          <a:bodyPr/>
          <a:lstStyle/>
          <a:p>
            <a:r>
              <a:rPr lang="en-TR" dirty="0"/>
              <a:t>Thank You </a:t>
            </a:r>
            <a:r>
              <a:rPr lang="en-TR"/>
              <a:t>For Listening</a:t>
            </a:r>
            <a:r>
              <a:rPr lang="en-TR" dirty="0"/>
              <a:t>!</a:t>
            </a:r>
          </a:p>
        </p:txBody>
      </p:sp>
    </p:spTree>
    <p:extLst>
      <p:ext uri="{BB962C8B-B14F-4D97-AF65-F5344CB8AC3E}">
        <p14:creationId xmlns:p14="http://schemas.microsoft.com/office/powerpoint/2010/main" val="13918085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{59BA00F6-1889-4244-9E20-2733BB7BF0CE}tf10001060</Template>
  <TotalTime>110</TotalTime>
  <Words>1370</Words>
  <Application>Microsoft Macintosh PowerPoint</Application>
  <PresentationFormat>Widescreen</PresentationFormat>
  <Paragraphs>168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 Math</vt:lpstr>
      <vt:lpstr>Trebuchet MS</vt:lpstr>
      <vt:lpstr>Wingdings 3</vt:lpstr>
      <vt:lpstr>Facet</vt:lpstr>
      <vt:lpstr>Datathon Use Case 2 Wind Power Plant Production Forecasting</vt:lpstr>
      <vt:lpstr>Business Understanding </vt:lpstr>
      <vt:lpstr>Data Understanding</vt:lpstr>
      <vt:lpstr>Data Understanding Time Related Feature Extraction</vt:lpstr>
      <vt:lpstr>Data Understanding Missing Values</vt:lpstr>
      <vt:lpstr>Data Understanding Outliers</vt:lpstr>
      <vt:lpstr>Data Understanding Missing Value Imputing</vt:lpstr>
      <vt:lpstr>Data Understanding Distributions</vt:lpstr>
      <vt:lpstr>Data Understanding Correlation of the Features</vt:lpstr>
      <vt:lpstr>Data Preperation Scaling the Data</vt:lpstr>
      <vt:lpstr>Data Preperation Feature Selection of the Original Features</vt:lpstr>
      <vt:lpstr>Data Preperation Feature Selection of the Time Related Features</vt:lpstr>
      <vt:lpstr>Modeling Models we tried</vt:lpstr>
      <vt:lpstr>Modeling Cross Validation and Train-Test Split</vt:lpstr>
      <vt:lpstr>Modeling Hyperparameter Search</vt:lpstr>
      <vt:lpstr>Models Prophet Time Series Analysis</vt:lpstr>
      <vt:lpstr>Evaluation Metrics</vt:lpstr>
      <vt:lpstr>Evaluation Results</vt:lpstr>
      <vt:lpstr>Evaluation Our Final Prediction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Datathon Use Case 2</dc:title>
  <dc:creator>Egecan Esen</dc:creator>
  <cp:lastModifiedBy>Egecan Esen</cp:lastModifiedBy>
  <cp:revision>11</cp:revision>
  <dcterms:created xsi:type="dcterms:W3CDTF">2021-06-05T22:59:15Z</dcterms:created>
  <dcterms:modified xsi:type="dcterms:W3CDTF">2021-06-06T11:59:54Z</dcterms:modified>
</cp:coreProperties>
</file>